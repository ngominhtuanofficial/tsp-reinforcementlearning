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739" r:id="rId4"/>
  </p:sldMasterIdLst>
  <p:sldIdLst>
    <p:sldId id="256" r:id="rId5"/>
    <p:sldId id="257" r:id="rId6"/>
    <p:sldId id="258" r:id="rId7"/>
    <p:sldId id="259" r:id="rId8"/>
    <p:sldId id="270" r:id="rId9"/>
    <p:sldId id="278" r:id="rId10"/>
    <p:sldId id="279" r:id="rId11"/>
    <p:sldId id="273" r:id="rId12"/>
    <p:sldId id="274" r:id="rId13"/>
    <p:sldId id="275" r:id="rId14"/>
    <p:sldId id="264" r:id="rId15"/>
  </p:sldIdLst>
  <p:sldSz cx="12192000" cy="6858000"/>
  <p:notesSz cx="7559675" cy="10691813"/>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4"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2"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3"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4"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5"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6"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7"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4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9"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1"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3"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4"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8"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0"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1"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6"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8"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9"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0"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1"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2"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3"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7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7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7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7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7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7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8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9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9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9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9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0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FFFFFF"/>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FFFFFF"/>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FFFFFF"/>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FFFFFF"/>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FFFFFF"/>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FFFFFF"/>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FFFFFF"/>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3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76" name="PlaceHolder 1"/>
          <p:cNvSpPr>
            <a:spLocks noGrp="1"/>
          </p:cNvSpPr>
          <p:nvPr>
            <p:ph type="body"/>
          </p:nvPr>
        </p:nvSpPr>
        <p:spPr>
          <a:xfrm>
            <a:off x="338760" y="1058760"/>
            <a:ext cx="11514240" cy="4908600"/>
          </a:xfrm>
          <a:prstGeom prst="rect">
            <a:avLst/>
          </a:prstGeom>
        </p:spPr>
        <p:txBody>
          <a:bodyPr lIns="90000" tIns="45000" rIns="90000" bIns="45000">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Lato"/>
                <a:ea typeface="Lato"/>
              </a:rPr>
              <a:t>Click to edit Master text styles</a:t>
            </a:r>
            <a:endParaRPr lang="en-US" sz="2800" b="0" strike="noStrike" spc="-1">
              <a:solidFill>
                <a:srgbClr val="000000"/>
              </a:solidFill>
              <a:latin typeface="Calibri"/>
            </a:endParaRP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Lato"/>
                <a:ea typeface="Lato"/>
              </a:rPr>
              <a:t>Second level</a:t>
            </a:r>
            <a:endParaRPr lang="en-US" sz="2400" b="0" strike="noStrike" spc="-1">
              <a:solidFill>
                <a:srgbClr val="000000"/>
              </a:solidFill>
              <a:latin typeface="Calibri"/>
            </a:endParaRP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Lato"/>
                <a:ea typeface="Lato"/>
              </a:rPr>
              <a:t>Third level</a:t>
            </a:r>
            <a:endParaRPr lang="en-US" sz="2000" b="0" strike="noStrike" spc="-1">
              <a:solidFill>
                <a:srgbClr val="000000"/>
              </a:solidFill>
              <a:latin typeface="Calibri"/>
            </a:endParaRP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Fourth level</a:t>
            </a:r>
            <a:endParaRPr lang="en-US" sz="1800" b="0" strike="noStrike" spc="-1">
              <a:solidFill>
                <a:srgbClr val="000000"/>
              </a:solidFill>
              <a:latin typeface="Calibri"/>
            </a:endParaRP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Fifth level</a:t>
            </a:r>
            <a:endParaRPr lang="en-US" sz="1800" b="0" strike="noStrike" spc="-1">
              <a:solidFill>
                <a:srgbClr val="000000"/>
              </a:solidFill>
              <a:latin typeface="Calibri"/>
            </a:endParaRPr>
          </a:p>
        </p:txBody>
      </p:sp>
      <p:sp>
        <p:nvSpPr>
          <p:cNvPr id="77" name="PlaceHolder 2"/>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pPr>
            <a:r>
              <a:rPr lang="en-US" sz="2800" b="1" strike="noStrike" spc="-1">
                <a:solidFill>
                  <a:srgbClr val="FFFFFF"/>
                </a:solidFill>
                <a:latin typeface="Lato"/>
                <a:ea typeface="Lato"/>
              </a:rPr>
              <a:t>Title 1:……………………………………..</a:t>
            </a:r>
            <a:endParaRPr lang="en-US" sz="28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68"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26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6" name="Picture 3" descr="Text&#10;&#10;Description automatically generated"/>
          <p:cNvPicPr/>
          <p:nvPr/>
        </p:nvPicPr>
        <p:blipFill>
          <a:blip r:embed="rId2"/>
          <a:stretch/>
        </p:blipFill>
        <p:spPr>
          <a:xfrm>
            <a:off x="392040" y="271440"/>
            <a:ext cx="3174120" cy="1153080"/>
          </a:xfrm>
          <a:prstGeom prst="rect">
            <a:avLst/>
          </a:prstGeom>
          <a:ln>
            <a:noFill/>
          </a:ln>
        </p:spPr>
      </p:pic>
      <p:sp>
        <p:nvSpPr>
          <p:cNvPr id="307" name="CustomShape 1"/>
          <p:cNvSpPr/>
          <p:nvPr/>
        </p:nvSpPr>
        <p:spPr>
          <a:xfrm>
            <a:off x="695520" y="2269440"/>
            <a:ext cx="8251560" cy="848520"/>
          </a:xfrm>
          <a:prstGeom prst="rect">
            <a:avLst/>
          </a:prstGeom>
          <a:noFill/>
          <a:ln>
            <a:noFill/>
          </a:ln>
        </p:spPr>
        <p:style>
          <a:lnRef idx="0">
            <a:scrgbClr r="0" g="0" b="0"/>
          </a:lnRef>
          <a:fillRef idx="0">
            <a:scrgbClr r="0" g="0" b="0"/>
          </a:fillRef>
          <a:effectRef idx="0">
            <a:scrgbClr r="0" g="0" b="0"/>
          </a:effectRef>
          <a:fontRef idx="minor"/>
        </p:style>
        <p:txBody>
          <a:bodyPr/>
          <a:lstStyle/>
          <a:p>
            <a:endParaRPr lang="vi-VN"/>
          </a:p>
        </p:txBody>
      </p:sp>
      <p:sp>
        <p:nvSpPr>
          <p:cNvPr id="308" name="CustomShape 2"/>
          <p:cNvSpPr/>
          <p:nvPr/>
        </p:nvSpPr>
        <p:spPr>
          <a:xfrm>
            <a:off x="695520" y="3403080"/>
            <a:ext cx="6095520" cy="2223360"/>
          </a:xfrm>
          <a:prstGeom prst="rect">
            <a:avLst/>
          </a:prstGeom>
          <a:noFill/>
          <a:ln>
            <a:noFill/>
          </a:ln>
        </p:spPr>
        <p:style>
          <a:lnRef idx="0">
            <a:scrgbClr r="0" g="0" b="0"/>
          </a:lnRef>
          <a:fillRef idx="0">
            <a:scrgbClr r="0" g="0" b="0"/>
          </a:fillRef>
          <a:effectRef idx="0">
            <a:scrgbClr r="0" g="0" b="0"/>
          </a:effectRef>
          <a:fontRef idx="minor"/>
        </p:style>
        <p:txBody>
          <a:bodyPr/>
          <a:lstStyle/>
          <a:p>
            <a:endParaRPr lang="vi-VN"/>
          </a:p>
        </p:txBody>
      </p:sp>
      <p:sp>
        <p:nvSpPr>
          <p:cNvPr id="309" name="CustomShape 3"/>
          <p:cNvSpPr/>
          <p:nvPr/>
        </p:nvSpPr>
        <p:spPr>
          <a:xfrm>
            <a:off x="6962400" y="3269880"/>
            <a:ext cx="4329000" cy="1369440"/>
          </a:xfrm>
          <a:prstGeom prst="rect">
            <a:avLst/>
          </a:prstGeom>
          <a:noFill/>
          <a:ln>
            <a:noFill/>
          </a:ln>
        </p:spPr>
        <p:style>
          <a:lnRef idx="0">
            <a:scrgbClr r="0" g="0" b="0"/>
          </a:lnRef>
          <a:fillRef idx="0">
            <a:scrgbClr r="0" g="0" b="0"/>
          </a:fillRef>
          <a:effectRef idx="0">
            <a:scrgbClr r="0" g="0" b="0"/>
          </a:effectRef>
          <a:fontRef idx="minor"/>
        </p:style>
        <p:txBody>
          <a:bodyPr/>
          <a:lstStyle/>
          <a:p>
            <a:endParaRPr lang="vi-VN"/>
          </a:p>
        </p:txBody>
      </p:sp>
      <p:sp>
        <p:nvSpPr>
          <p:cNvPr id="2" name="TextBox 1">
            <a:extLst>
              <a:ext uri="{FF2B5EF4-FFF2-40B4-BE49-F238E27FC236}">
                <a16:creationId xmlns:a16="http://schemas.microsoft.com/office/drawing/2014/main" id="{E7FC1058-1AB6-F2F8-6B41-EABC083485B6}"/>
              </a:ext>
            </a:extLst>
          </p:cNvPr>
          <p:cNvSpPr txBox="1"/>
          <p:nvPr/>
        </p:nvSpPr>
        <p:spPr>
          <a:xfrm>
            <a:off x="1013627" y="2269440"/>
            <a:ext cx="7410091" cy="1938992"/>
          </a:xfrm>
          <a:prstGeom prst="rect">
            <a:avLst/>
          </a:prstGeom>
          <a:noFill/>
        </p:spPr>
        <p:txBody>
          <a:bodyPr wrap="square" rtlCol="0">
            <a:spAutoFit/>
          </a:bodyPr>
          <a:lstStyle/>
          <a:p>
            <a:r>
              <a:rPr lang="en-US" sz="4000" b="1" dirty="0"/>
              <a:t>TỐI ƯU HÓA TỔ HỢP BẰNG MẠNG NƠ RON VÀ </a:t>
            </a:r>
          </a:p>
          <a:p>
            <a:r>
              <a:rPr lang="en-US" sz="4000" b="1" dirty="0"/>
              <a:t>HỌC TĂNG CƯỜNG</a:t>
            </a:r>
            <a:endParaRPr lang="vi-VN" sz="40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Freeform 1"/>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vi-VN"/>
          </a:p>
        </p:txBody>
      </p:sp>
      <p:sp>
        <p:nvSpPr>
          <p:cNvPr id="311" name="TextShape 2"/>
          <p:cNvSpPr txBox="1"/>
          <p:nvPr/>
        </p:nvSpPr>
        <p:spPr>
          <a:xfrm>
            <a:off x="338760" y="1058760"/>
            <a:ext cx="11514240" cy="4908600"/>
          </a:xfrm>
          <a:prstGeom prst="rect">
            <a:avLst/>
          </a:prstGeom>
          <a:noFill/>
          <a:ln>
            <a:noFill/>
          </a:ln>
        </p:spPr>
        <p:txBody>
          <a:bodyPr lIns="90000" tIns="45000" rIns="90000" bIns="45000">
            <a:noAutofit/>
          </a:bodyPr>
          <a:lstStyle/>
          <a:p>
            <a:endParaRPr lang="en-US" sz="2800" b="0" strike="noStrike" spc="-1">
              <a:solidFill>
                <a:srgbClr val="000000"/>
              </a:solidFill>
              <a:latin typeface="Calibri"/>
            </a:endParaRPr>
          </a:p>
        </p:txBody>
      </p:sp>
      <p:sp>
        <p:nvSpPr>
          <p:cNvPr id="3" name="TextBox 2">
            <a:extLst>
              <a:ext uri="{FF2B5EF4-FFF2-40B4-BE49-F238E27FC236}">
                <a16:creationId xmlns:a16="http://schemas.microsoft.com/office/drawing/2014/main" id="{8382C2F9-DF6E-7FDE-49C9-46CA7D63674E}"/>
              </a:ext>
            </a:extLst>
          </p:cNvPr>
          <p:cNvSpPr txBox="1"/>
          <p:nvPr/>
        </p:nvSpPr>
        <p:spPr>
          <a:xfrm>
            <a:off x="83808" y="95891"/>
            <a:ext cx="12024143" cy="461665"/>
          </a:xfrm>
          <a:prstGeom prst="rect">
            <a:avLst/>
          </a:prstGeom>
          <a:noFill/>
        </p:spPr>
        <p:txBody>
          <a:bodyPr wrap="square" rtlCol="0">
            <a:spAutoFit/>
          </a:bodyPr>
          <a:lstStyle/>
          <a:p>
            <a:r>
              <a:rPr lang="vi-VN" sz="2400" b="1" dirty="0">
                <a:solidFill>
                  <a:schemeClr val="bg1"/>
                </a:solidFill>
              </a:rPr>
              <a:t>Điểm Nghẽn Trong Các Thuật Toán Tối Ưu Hóa Tổ Hợp Hiện Tại</a:t>
            </a:r>
          </a:p>
        </p:txBody>
      </p:sp>
      <p:sp>
        <p:nvSpPr>
          <p:cNvPr id="6" name="TextBox 5">
            <a:extLst>
              <a:ext uri="{FF2B5EF4-FFF2-40B4-BE49-F238E27FC236}">
                <a16:creationId xmlns:a16="http://schemas.microsoft.com/office/drawing/2014/main" id="{854734D3-386D-A75C-C6E7-8C0B96BFC9AE}"/>
              </a:ext>
            </a:extLst>
          </p:cNvPr>
          <p:cNvSpPr txBox="1"/>
          <p:nvPr/>
        </p:nvSpPr>
        <p:spPr>
          <a:xfrm>
            <a:off x="264962" y="1058760"/>
            <a:ext cx="9965966" cy="3693319"/>
          </a:xfrm>
          <a:prstGeom prst="rect">
            <a:avLst/>
          </a:prstGeom>
          <a:noFill/>
        </p:spPr>
        <p:txBody>
          <a:bodyPr wrap="square" rtlCol="0">
            <a:spAutoFit/>
          </a:bodyPr>
          <a:lstStyle/>
          <a:p>
            <a:r>
              <a:rPr lang="vi-VN" b="1" dirty="0"/>
              <a:t>Bối cảnh:</a:t>
            </a:r>
            <a:r>
              <a:rPr lang="vi-VN" dirty="0"/>
              <a:t> Traveling Salesman Problem (TSP) yêu cầu tìm đường đi ngắn nhất qua điểm. Dù trong không gian 2D Euclidean, đây vẫn là bài toán NP-hard. Sự bùng nổ tổ hợp (Combinatorial Explosion) khiến bài toán trở nên vô cùng phức tạp khi tăng lên (ví dụ: </a:t>
            </a:r>
            <a:r>
              <a:rPr lang="en-US" b="1" i="1" dirty="0"/>
              <a:t>N = 50</a:t>
            </a:r>
            <a:r>
              <a:rPr lang="vi-VN" dirty="0"/>
              <a:t>).</a:t>
            </a:r>
            <a:endParaRPr lang="en-US" dirty="0"/>
          </a:p>
          <a:p>
            <a:endParaRPr lang="vi-VN" dirty="0"/>
          </a:p>
          <a:p>
            <a:pPr lvl="0"/>
            <a:r>
              <a:rPr lang="vi-VN" b="1" dirty="0"/>
              <a:t>Solvers Truyền Thống:</a:t>
            </a:r>
            <a:endParaRPr lang="vi-VN" dirty="0"/>
          </a:p>
          <a:p>
            <a:pPr lvl="1"/>
            <a:r>
              <a:rPr lang="vi-VN" dirty="0"/>
              <a:t>Phụ thuộc hoàn toàn vào heuristics thủ công (handcrafted heuristics).</a:t>
            </a:r>
          </a:p>
          <a:p>
            <a:pPr lvl="1"/>
            <a:r>
              <a:rPr lang="vi-VN" dirty="0"/>
              <a:t>Theo định lý No Free Lunch, nếu bài toán thay đổi một chút, thuật toán phải được thiết kế lại từ đầu.</a:t>
            </a:r>
            <a:endParaRPr lang="en-US" dirty="0"/>
          </a:p>
          <a:p>
            <a:pPr lvl="1"/>
            <a:endParaRPr lang="vi-VN" dirty="0"/>
          </a:p>
          <a:p>
            <a:pPr lvl="0"/>
            <a:r>
              <a:rPr lang="vi-VN" b="1" dirty="0"/>
              <a:t>Supervised Learning:</a:t>
            </a:r>
            <a:endParaRPr lang="vi-VN" dirty="0"/>
          </a:p>
          <a:p>
            <a:pPr lvl="1"/>
            <a:r>
              <a:rPr lang="vi-VN" dirty="0"/>
              <a:t>Đòi hỏi khối lượng lớn nhãn tối ưu (optimal labels) – đắt đỏ hoặc bất khả thi để thu thập cho bài toán lớn.</a:t>
            </a:r>
          </a:p>
          <a:p>
            <a:pPr lvl="1"/>
            <a:r>
              <a:rPr lang="vi-VN" dirty="0"/>
              <a:t>Khả năng khái quát (generalization) rất kém.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TextShape 1"/>
          <p:cNvSpPr txBox="1"/>
          <p:nvPr/>
        </p:nvSpPr>
        <p:spPr>
          <a:xfrm>
            <a:off x="338760" y="1058760"/>
            <a:ext cx="11514240" cy="4908600"/>
          </a:xfrm>
          <a:prstGeom prst="rect">
            <a:avLst/>
          </a:prstGeom>
          <a:noFill/>
          <a:ln>
            <a:noFill/>
          </a:ln>
        </p:spPr>
        <p:txBody>
          <a:bodyPr lIns="90000" tIns="45000" rIns="90000" bIns="45000">
            <a:noAutofit/>
          </a:bodyPr>
          <a:lstStyle/>
          <a:p>
            <a:endParaRPr lang="en-US" sz="2800" b="0" strike="noStrike" spc="-1">
              <a:solidFill>
                <a:srgbClr val="000000"/>
              </a:solidFill>
              <a:latin typeface="Calibri"/>
            </a:endParaRPr>
          </a:p>
        </p:txBody>
      </p:sp>
      <p:sp>
        <p:nvSpPr>
          <p:cNvPr id="313" name="TextShape 2"/>
          <p:cNvSpPr txBox="1"/>
          <p:nvPr/>
        </p:nvSpPr>
        <p:spPr>
          <a:xfrm>
            <a:off x="338760" y="112680"/>
            <a:ext cx="1151424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
        <p:nvSpPr>
          <p:cNvPr id="3" name="TextBox 2">
            <a:extLst>
              <a:ext uri="{FF2B5EF4-FFF2-40B4-BE49-F238E27FC236}">
                <a16:creationId xmlns:a16="http://schemas.microsoft.com/office/drawing/2014/main" id="{6DB6E02D-2AAB-50F0-3C1F-24905B505F46}"/>
              </a:ext>
            </a:extLst>
          </p:cNvPr>
          <p:cNvSpPr txBox="1"/>
          <p:nvPr/>
        </p:nvSpPr>
        <p:spPr>
          <a:xfrm>
            <a:off x="83808" y="95891"/>
            <a:ext cx="12024143" cy="461665"/>
          </a:xfrm>
          <a:prstGeom prst="rect">
            <a:avLst/>
          </a:prstGeom>
          <a:noFill/>
        </p:spPr>
        <p:txBody>
          <a:bodyPr wrap="square" rtlCol="0">
            <a:spAutoFit/>
          </a:bodyPr>
          <a:lstStyle/>
          <a:p>
            <a:r>
              <a:rPr lang="vi-VN" sz="2400" b="1" dirty="0">
                <a:solidFill>
                  <a:schemeClr val="bg1"/>
                </a:solidFill>
              </a:rPr>
              <a:t>Bước Đột Phá: Sử Dụng Học Tăng Cường (RL) Thay Thế Dữ Liệu Nhãn</a:t>
            </a:r>
          </a:p>
        </p:txBody>
      </p:sp>
      <p:sp>
        <p:nvSpPr>
          <p:cNvPr id="7" name="TextBox 6">
            <a:extLst>
              <a:ext uri="{FF2B5EF4-FFF2-40B4-BE49-F238E27FC236}">
                <a16:creationId xmlns:a16="http://schemas.microsoft.com/office/drawing/2014/main" id="{C735BDE8-8079-E4EA-252A-65930ABD2666}"/>
              </a:ext>
            </a:extLst>
          </p:cNvPr>
          <p:cNvSpPr txBox="1"/>
          <p:nvPr/>
        </p:nvSpPr>
        <p:spPr>
          <a:xfrm>
            <a:off x="264963" y="1108229"/>
            <a:ext cx="9965966" cy="646331"/>
          </a:xfrm>
          <a:prstGeom prst="rect">
            <a:avLst/>
          </a:prstGeom>
          <a:noFill/>
        </p:spPr>
        <p:txBody>
          <a:bodyPr wrap="square" rtlCol="0">
            <a:spAutoFit/>
          </a:bodyPr>
          <a:lstStyle/>
          <a:p>
            <a:r>
              <a:rPr lang="vi-VN" dirty="0"/>
              <a:t>Mô hình tự học cách giải quyết bài toán bằng cách tương tác với môi trường, dùng chiều dài quãng đường làm tín hiệu phần thưởng thay vì sao chép một solver khác.</a:t>
            </a:r>
          </a:p>
        </p:txBody>
      </p:sp>
      <p:graphicFrame>
        <p:nvGraphicFramePr>
          <p:cNvPr id="8" name="Table 7">
            <a:extLst>
              <a:ext uri="{FF2B5EF4-FFF2-40B4-BE49-F238E27FC236}">
                <a16:creationId xmlns:a16="http://schemas.microsoft.com/office/drawing/2014/main" id="{9B79E288-4F73-BC69-30DD-1A653C159D00}"/>
              </a:ext>
            </a:extLst>
          </p:cNvPr>
          <p:cNvGraphicFramePr>
            <a:graphicFrameLocks noGrp="1"/>
          </p:cNvGraphicFramePr>
          <p:nvPr>
            <p:extLst>
              <p:ext uri="{D42A27DB-BD31-4B8C-83A1-F6EECF244321}">
                <p14:modId xmlns:p14="http://schemas.microsoft.com/office/powerpoint/2010/main" val="349972667"/>
              </p:ext>
            </p:extLst>
          </p:nvPr>
        </p:nvGraphicFramePr>
        <p:xfrm>
          <a:off x="338760" y="2011680"/>
          <a:ext cx="11514136" cy="2834640"/>
        </p:xfrm>
        <a:graphic>
          <a:graphicData uri="http://schemas.openxmlformats.org/drawingml/2006/table">
            <a:tbl>
              <a:tblPr>
                <a:tableStyleId>{5C22544A-7EE6-4342-B048-85BDC9FD1C3A}</a:tableStyleId>
              </a:tblPr>
              <a:tblGrid>
                <a:gridCol w="2878534">
                  <a:extLst>
                    <a:ext uri="{9D8B030D-6E8A-4147-A177-3AD203B41FA5}">
                      <a16:colId xmlns:a16="http://schemas.microsoft.com/office/drawing/2014/main" val="4004076243"/>
                    </a:ext>
                  </a:extLst>
                </a:gridCol>
                <a:gridCol w="2878534">
                  <a:extLst>
                    <a:ext uri="{9D8B030D-6E8A-4147-A177-3AD203B41FA5}">
                      <a16:colId xmlns:a16="http://schemas.microsoft.com/office/drawing/2014/main" val="2908050386"/>
                    </a:ext>
                  </a:extLst>
                </a:gridCol>
                <a:gridCol w="2878534">
                  <a:extLst>
                    <a:ext uri="{9D8B030D-6E8A-4147-A177-3AD203B41FA5}">
                      <a16:colId xmlns:a16="http://schemas.microsoft.com/office/drawing/2014/main" val="2532157242"/>
                    </a:ext>
                  </a:extLst>
                </a:gridCol>
                <a:gridCol w="2878534">
                  <a:extLst>
                    <a:ext uri="{9D8B030D-6E8A-4147-A177-3AD203B41FA5}">
                      <a16:colId xmlns:a16="http://schemas.microsoft.com/office/drawing/2014/main" val="908653503"/>
                    </a:ext>
                  </a:extLst>
                </a:gridCol>
              </a:tblGrid>
              <a:tr h="0">
                <a:tc>
                  <a:txBody>
                    <a:bodyPr/>
                    <a:lstStyle/>
                    <a:p>
                      <a:pPr>
                        <a:buNone/>
                      </a:pPr>
                      <a:endParaRPr lang="vi-VN"/>
                    </a:p>
                  </a:txBody>
                  <a:tcPr anchor="ctr"/>
                </a:tc>
                <a:tc>
                  <a:txBody>
                    <a:bodyPr/>
                    <a:lstStyle/>
                    <a:p>
                      <a:pPr>
                        <a:buNone/>
                      </a:pPr>
                      <a:r>
                        <a:rPr lang="vi-VN"/>
                        <a:t>Traditional Heuristics</a:t>
                      </a:r>
                    </a:p>
                  </a:txBody>
                  <a:tcPr anchor="ctr"/>
                </a:tc>
                <a:tc>
                  <a:txBody>
                    <a:bodyPr/>
                    <a:lstStyle/>
                    <a:p>
                      <a:pPr>
                        <a:buNone/>
                      </a:pPr>
                      <a:r>
                        <a:rPr lang="vi-VN" dirty="0"/>
                        <a:t>Supervised ML</a:t>
                      </a:r>
                    </a:p>
                  </a:txBody>
                  <a:tcPr anchor="ctr"/>
                </a:tc>
                <a:tc>
                  <a:txBody>
                    <a:bodyPr/>
                    <a:lstStyle/>
                    <a:p>
                      <a:pPr>
                        <a:buNone/>
                      </a:pPr>
                      <a:r>
                        <a:rPr lang="vi-VN"/>
                        <a:t>Reinforcement Learning (RL)</a:t>
                      </a:r>
                    </a:p>
                  </a:txBody>
                  <a:tcPr anchor="ctr"/>
                </a:tc>
                <a:extLst>
                  <a:ext uri="{0D108BD9-81ED-4DB2-BD59-A6C34878D82A}">
                    <a16:rowId xmlns:a16="http://schemas.microsoft.com/office/drawing/2014/main" val="1828139163"/>
                  </a:ext>
                </a:extLst>
              </a:tr>
              <a:tr h="0">
                <a:tc>
                  <a:txBody>
                    <a:bodyPr/>
                    <a:lstStyle/>
                    <a:p>
                      <a:pPr>
                        <a:buNone/>
                      </a:pPr>
                      <a:r>
                        <a:rPr lang="vi-VN"/>
                        <a:t>Yêu cầu nhãn dữ liệu</a:t>
                      </a:r>
                    </a:p>
                  </a:txBody>
                  <a:tcPr anchor="ctr"/>
                </a:tc>
                <a:tc>
                  <a:txBody>
                    <a:bodyPr/>
                    <a:lstStyle/>
                    <a:p>
                      <a:pPr>
                        <a:buNone/>
                      </a:pPr>
                      <a:r>
                        <a:rPr lang="vi-VN"/>
                        <a:t>Không</a:t>
                      </a:r>
                    </a:p>
                  </a:txBody>
                  <a:tcPr anchor="ctr"/>
                </a:tc>
                <a:tc>
                  <a:txBody>
                    <a:bodyPr/>
                    <a:lstStyle/>
                    <a:p>
                      <a:pPr>
                        <a:buNone/>
                      </a:pPr>
                      <a:r>
                        <a:rPr lang="vi-VN"/>
                        <a:t>Rất cao (Hàng triệu optimal tours)</a:t>
                      </a:r>
                    </a:p>
                  </a:txBody>
                  <a:tcPr anchor="ctr"/>
                </a:tc>
                <a:tc>
                  <a:txBody>
                    <a:bodyPr/>
                    <a:lstStyle/>
                    <a:p>
                      <a:pPr>
                        <a:buNone/>
                      </a:pPr>
                      <a:r>
                        <a:rPr lang="vi-VN"/>
                        <a:t>Không (Tự học qua phần thưởng)</a:t>
                      </a:r>
                    </a:p>
                  </a:txBody>
                  <a:tcPr anchor="ctr"/>
                </a:tc>
                <a:extLst>
                  <a:ext uri="{0D108BD9-81ED-4DB2-BD59-A6C34878D82A}">
                    <a16:rowId xmlns:a16="http://schemas.microsoft.com/office/drawing/2014/main" val="3992867925"/>
                  </a:ext>
                </a:extLst>
              </a:tr>
              <a:tr h="0">
                <a:tc>
                  <a:txBody>
                    <a:bodyPr/>
                    <a:lstStyle/>
                    <a:p>
                      <a:pPr>
                        <a:buNone/>
                      </a:pPr>
                      <a:r>
                        <a:rPr lang="vi-VN"/>
                        <a:t>Khả năng khái quát</a:t>
                      </a:r>
                    </a:p>
                  </a:txBody>
                  <a:tcPr anchor="ctr"/>
                </a:tc>
                <a:tc>
                  <a:txBody>
                    <a:bodyPr/>
                    <a:lstStyle/>
                    <a:p>
                      <a:pPr>
                        <a:buNone/>
                      </a:pPr>
                      <a:r>
                        <a:rPr lang="vi-VN"/>
                        <a:t>Rất thấp (Thủ công cho từng bài toán)</a:t>
                      </a:r>
                    </a:p>
                  </a:txBody>
                  <a:tcPr anchor="ctr"/>
                </a:tc>
                <a:tc>
                  <a:txBody>
                    <a:bodyPr/>
                    <a:lstStyle/>
                    <a:p>
                      <a:pPr>
                        <a:buNone/>
                      </a:pPr>
                      <a:r>
                        <a:rPr lang="vi-VN"/>
                        <a:t>Thấp (Gò bó bởi nhãn)</a:t>
                      </a:r>
                    </a:p>
                  </a:txBody>
                  <a:tcPr anchor="ctr"/>
                </a:tc>
                <a:tc>
                  <a:txBody>
                    <a:bodyPr/>
                    <a:lstStyle/>
                    <a:p>
                      <a:pPr>
                        <a:buNone/>
                      </a:pPr>
                      <a:r>
                        <a:rPr lang="vi-VN"/>
                        <a:t>Cao (Tự động khám phá heuristics)</a:t>
                      </a:r>
                    </a:p>
                  </a:txBody>
                  <a:tcPr anchor="ctr"/>
                </a:tc>
                <a:extLst>
                  <a:ext uri="{0D108BD9-81ED-4DB2-BD59-A6C34878D82A}">
                    <a16:rowId xmlns:a16="http://schemas.microsoft.com/office/drawing/2014/main" val="3678311808"/>
                  </a:ext>
                </a:extLst>
              </a:tr>
              <a:tr h="0">
                <a:tc>
                  <a:txBody>
                    <a:bodyPr/>
                    <a:lstStyle/>
                    <a:p>
                      <a:pPr>
                        <a:buNone/>
                      </a:pPr>
                      <a:r>
                        <a:rPr lang="vi-VN"/>
                        <a:t>Tốc độ Inference</a:t>
                      </a:r>
                    </a:p>
                  </a:txBody>
                  <a:tcPr anchor="ctr"/>
                </a:tc>
                <a:tc>
                  <a:txBody>
                    <a:bodyPr/>
                    <a:lstStyle/>
                    <a:p>
                      <a:pPr>
                        <a:buNone/>
                      </a:pPr>
                      <a:r>
                        <a:rPr lang="vi-VN"/>
                        <a:t>Nhanh/Trung bình</a:t>
                      </a:r>
                    </a:p>
                  </a:txBody>
                  <a:tcPr anchor="ctr"/>
                </a:tc>
                <a:tc>
                  <a:txBody>
                    <a:bodyPr/>
                    <a:lstStyle/>
                    <a:p>
                      <a:pPr>
                        <a:buNone/>
                      </a:pPr>
                      <a:r>
                        <a:rPr lang="vi-VN"/>
                        <a:t>Nhanh</a:t>
                      </a:r>
                    </a:p>
                  </a:txBody>
                  <a:tcPr anchor="ctr"/>
                </a:tc>
                <a:tc>
                  <a:txBody>
                    <a:bodyPr/>
                    <a:lstStyle/>
                    <a:p>
                      <a:pPr>
                        <a:buNone/>
                      </a:pPr>
                      <a:r>
                        <a:rPr lang="vi-VN" dirty="0"/>
                        <a:t>Linh hoạt (Greedy/Sampling/Active Search)</a:t>
                      </a:r>
                    </a:p>
                  </a:txBody>
                  <a:tcPr anchor="ctr"/>
                </a:tc>
                <a:extLst>
                  <a:ext uri="{0D108BD9-81ED-4DB2-BD59-A6C34878D82A}">
                    <a16:rowId xmlns:a16="http://schemas.microsoft.com/office/drawing/2014/main" val="255419588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FF16E-967E-A371-1428-F44CB2AFC09A}"/>
            </a:ext>
          </a:extLst>
        </p:cNvPr>
        <p:cNvGrpSpPr/>
        <p:nvPr/>
      </p:nvGrpSpPr>
      <p:grpSpPr>
        <a:xfrm>
          <a:off x="0" y="0"/>
          <a:ext cx="0" cy="0"/>
          <a:chOff x="0" y="0"/>
          <a:chExt cx="0" cy="0"/>
        </a:xfrm>
      </p:grpSpPr>
      <p:sp>
        <p:nvSpPr>
          <p:cNvPr id="312" name="TextShape 1">
            <a:extLst>
              <a:ext uri="{FF2B5EF4-FFF2-40B4-BE49-F238E27FC236}">
                <a16:creationId xmlns:a16="http://schemas.microsoft.com/office/drawing/2014/main" id="{C9E1852C-7E9F-7F01-DF58-88623A11DD78}"/>
              </a:ext>
            </a:extLst>
          </p:cNvPr>
          <p:cNvSpPr txBox="1"/>
          <p:nvPr/>
        </p:nvSpPr>
        <p:spPr>
          <a:xfrm>
            <a:off x="338760" y="1058760"/>
            <a:ext cx="11514240" cy="4908600"/>
          </a:xfrm>
          <a:prstGeom prst="rect">
            <a:avLst/>
          </a:prstGeom>
          <a:noFill/>
          <a:ln>
            <a:noFill/>
          </a:ln>
        </p:spPr>
        <p:txBody>
          <a:bodyPr lIns="90000" tIns="45000" rIns="90000" bIns="45000">
            <a:noAutofit/>
          </a:bodyPr>
          <a:lstStyle/>
          <a:p>
            <a:endParaRPr lang="en-US" sz="2800" b="0" strike="noStrike" spc="-1">
              <a:solidFill>
                <a:srgbClr val="000000"/>
              </a:solidFill>
              <a:latin typeface="Calibri"/>
            </a:endParaRPr>
          </a:p>
        </p:txBody>
      </p:sp>
      <p:sp>
        <p:nvSpPr>
          <p:cNvPr id="313" name="TextShape 2">
            <a:extLst>
              <a:ext uri="{FF2B5EF4-FFF2-40B4-BE49-F238E27FC236}">
                <a16:creationId xmlns:a16="http://schemas.microsoft.com/office/drawing/2014/main" id="{5C91CA7D-EE6C-1473-1EC6-AA67C8F342F8}"/>
              </a:ext>
            </a:extLst>
          </p:cNvPr>
          <p:cNvSpPr txBox="1"/>
          <p:nvPr/>
        </p:nvSpPr>
        <p:spPr>
          <a:xfrm>
            <a:off x="338760" y="112680"/>
            <a:ext cx="1151424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
        <p:nvSpPr>
          <p:cNvPr id="3" name="TextBox 2">
            <a:extLst>
              <a:ext uri="{FF2B5EF4-FFF2-40B4-BE49-F238E27FC236}">
                <a16:creationId xmlns:a16="http://schemas.microsoft.com/office/drawing/2014/main" id="{AA75F32E-F3E7-BED7-C8F7-38E90179E955}"/>
              </a:ext>
            </a:extLst>
          </p:cNvPr>
          <p:cNvSpPr txBox="1"/>
          <p:nvPr/>
        </p:nvSpPr>
        <p:spPr>
          <a:xfrm>
            <a:off x="83808" y="95891"/>
            <a:ext cx="12024143" cy="461665"/>
          </a:xfrm>
          <a:prstGeom prst="rect">
            <a:avLst/>
          </a:prstGeom>
          <a:noFill/>
        </p:spPr>
        <p:txBody>
          <a:bodyPr wrap="square" rtlCol="0">
            <a:spAutoFit/>
          </a:bodyPr>
          <a:lstStyle/>
          <a:p>
            <a:r>
              <a:rPr lang="en-US" sz="2400" b="1" dirty="0" err="1">
                <a:solidFill>
                  <a:schemeClr val="bg1"/>
                </a:solidFill>
              </a:rPr>
              <a:t>Kiến</a:t>
            </a:r>
            <a:r>
              <a:rPr lang="en-US" sz="2400" b="1" dirty="0">
                <a:solidFill>
                  <a:schemeClr val="bg1"/>
                </a:solidFill>
              </a:rPr>
              <a:t> </a:t>
            </a:r>
            <a:r>
              <a:rPr lang="en-US" sz="2400" b="1" dirty="0" err="1">
                <a:solidFill>
                  <a:schemeClr val="bg1"/>
                </a:solidFill>
              </a:rPr>
              <a:t>trúc</a:t>
            </a:r>
            <a:r>
              <a:rPr lang="en-US" sz="2400" b="1" dirty="0">
                <a:solidFill>
                  <a:schemeClr val="bg1"/>
                </a:solidFill>
              </a:rPr>
              <a:t> </a:t>
            </a:r>
            <a:r>
              <a:rPr lang="en-US" sz="2400" b="1" dirty="0" err="1">
                <a:solidFill>
                  <a:schemeClr val="bg1"/>
                </a:solidFill>
              </a:rPr>
              <a:t>mạng</a:t>
            </a:r>
            <a:r>
              <a:rPr lang="en-US" sz="2400" b="1" dirty="0">
                <a:solidFill>
                  <a:schemeClr val="bg1"/>
                </a:solidFill>
              </a:rPr>
              <a:t> Neural </a:t>
            </a:r>
            <a:r>
              <a:rPr lang="en-US" sz="2400" b="1" dirty="0" err="1">
                <a:solidFill>
                  <a:schemeClr val="bg1"/>
                </a:solidFill>
              </a:rPr>
              <a:t>cho</a:t>
            </a:r>
            <a:r>
              <a:rPr lang="en-US" sz="2400" b="1" dirty="0">
                <a:solidFill>
                  <a:schemeClr val="bg1"/>
                </a:solidFill>
              </a:rPr>
              <a:t> </a:t>
            </a:r>
            <a:r>
              <a:rPr lang="en-US" sz="2400" b="1" dirty="0" err="1">
                <a:solidFill>
                  <a:schemeClr val="bg1"/>
                </a:solidFill>
              </a:rPr>
              <a:t>bài</a:t>
            </a:r>
            <a:r>
              <a:rPr lang="en-US" sz="2400" b="1" dirty="0">
                <a:solidFill>
                  <a:schemeClr val="bg1"/>
                </a:solidFill>
              </a:rPr>
              <a:t> </a:t>
            </a:r>
            <a:r>
              <a:rPr lang="en-US" sz="2400" b="1" dirty="0" err="1">
                <a:solidFill>
                  <a:schemeClr val="bg1"/>
                </a:solidFill>
              </a:rPr>
              <a:t>toán</a:t>
            </a:r>
            <a:endParaRPr lang="vi-VN" sz="2400" b="1" dirty="0">
              <a:solidFill>
                <a:schemeClr val="bg1"/>
              </a:solidFill>
            </a:endParaRPr>
          </a:p>
        </p:txBody>
      </p:sp>
      <p:sp>
        <p:nvSpPr>
          <p:cNvPr id="7" name="TextBox 6">
            <a:extLst>
              <a:ext uri="{FF2B5EF4-FFF2-40B4-BE49-F238E27FC236}">
                <a16:creationId xmlns:a16="http://schemas.microsoft.com/office/drawing/2014/main" id="{64A18503-F481-4715-78DD-C1159E876FC6}"/>
              </a:ext>
            </a:extLst>
          </p:cNvPr>
          <p:cNvSpPr txBox="1"/>
          <p:nvPr/>
        </p:nvSpPr>
        <p:spPr>
          <a:xfrm>
            <a:off x="338760" y="1120676"/>
            <a:ext cx="10345528" cy="2308324"/>
          </a:xfrm>
          <a:prstGeom prst="rect">
            <a:avLst/>
          </a:prstGeom>
          <a:noFill/>
        </p:spPr>
        <p:txBody>
          <a:bodyPr wrap="square" rtlCol="0">
            <a:spAutoFit/>
          </a:bodyPr>
          <a:lstStyle/>
          <a:p>
            <a:r>
              <a:rPr lang="vi-VN" dirty="0"/>
              <a:t>Quy trình xử lý của mô hình diễn ra theo các bước sau, trong đó thành phố được chọn sẽ trở thành Input cho bước tiếp theo:</a:t>
            </a:r>
            <a:endParaRPr lang="en-US" dirty="0"/>
          </a:p>
          <a:p>
            <a:endParaRPr lang="vi-VN" dirty="0"/>
          </a:p>
          <a:p>
            <a:pPr marL="342900" lvl="0" indent="-342900">
              <a:buFont typeface="+mj-lt"/>
              <a:buAutoNum type="arabicPeriod"/>
            </a:pPr>
            <a:r>
              <a:rPr lang="vi-VN" b="1" dirty="0"/>
              <a:t>Input:</a:t>
            </a:r>
            <a:r>
              <a:rPr lang="vi-VN" dirty="0"/>
              <a:t> Tọa độ 2D tuần tự .</a:t>
            </a:r>
          </a:p>
          <a:p>
            <a:pPr marL="342900" lvl="0" indent="-342900">
              <a:buFont typeface="+mj-lt"/>
              <a:buAutoNum type="arabicPeriod"/>
            </a:pPr>
            <a:r>
              <a:rPr lang="vi-VN" b="1" dirty="0"/>
              <a:t>Encoder (LSTM):</a:t>
            </a:r>
            <a:r>
              <a:rPr lang="vi-VN" dirty="0"/>
              <a:t> Tạo trạng thái bộ nhớ ẩn (Latent memory states).</a:t>
            </a:r>
          </a:p>
          <a:p>
            <a:pPr marL="342900" lvl="0" indent="-342900">
              <a:buFont typeface="+mj-lt"/>
              <a:buAutoNum type="arabicPeriod"/>
            </a:pPr>
            <a:r>
              <a:rPr lang="vi-VN" b="1" dirty="0"/>
              <a:t>Decoder (LSTM):</a:t>
            </a:r>
            <a:r>
              <a:rPr lang="vi-VN" dirty="0"/>
              <a:t> Kết hợp bộ nhớ Encoder tại mỗi bước .</a:t>
            </a:r>
          </a:p>
          <a:p>
            <a:pPr marL="342900" lvl="0" indent="-342900">
              <a:buFont typeface="+mj-lt"/>
              <a:buAutoNum type="arabicPeriod"/>
            </a:pPr>
            <a:r>
              <a:rPr lang="vi-VN" b="1" dirty="0"/>
              <a:t>Glimpse &amp; Attention Mechanism:</a:t>
            </a:r>
            <a:r>
              <a:rPr lang="vi-VN" dirty="0"/>
              <a:t> Tổng hợp thông tin 1-glimpse trước Softmax.</a:t>
            </a:r>
          </a:p>
          <a:p>
            <a:pPr marL="342900" lvl="0" indent="-342900">
              <a:buFont typeface="+mj-lt"/>
              <a:buAutoNum type="arabicPeriod"/>
            </a:pPr>
            <a:r>
              <a:rPr lang="vi-VN" b="1" dirty="0"/>
              <a:t>Output:</a:t>
            </a:r>
            <a:r>
              <a:rPr lang="vi-VN" dirty="0"/>
              <a:t> Xác suất chọn thành phố tiếp theo.</a:t>
            </a:r>
          </a:p>
        </p:txBody>
      </p:sp>
    </p:spTree>
    <p:extLst>
      <p:ext uri="{BB962C8B-B14F-4D97-AF65-F5344CB8AC3E}">
        <p14:creationId xmlns:p14="http://schemas.microsoft.com/office/powerpoint/2010/main" val="1136033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6056E-5648-FD70-4B6B-642BA71B8BC8}"/>
            </a:ext>
          </a:extLst>
        </p:cNvPr>
        <p:cNvGrpSpPr/>
        <p:nvPr/>
      </p:nvGrpSpPr>
      <p:grpSpPr>
        <a:xfrm>
          <a:off x="0" y="0"/>
          <a:ext cx="0" cy="0"/>
          <a:chOff x="0" y="0"/>
          <a:chExt cx="0" cy="0"/>
        </a:xfrm>
      </p:grpSpPr>
      <p:sp>
        <p:nvSpPr>
          <p:cNvPr id="312" name="TextShape 1">
            <a:extLst>
              <a:ext uri="{FF2B5EF4-FFF2-40B4-BE49-F238E27FC236}">
                <a16:creationId xmlns:a16="http://schemas.microsoft.com/office/drawing/2014/main" id="{34D7DE86-795B-5CB5-304E-6781F969E8A1}"/>
              </a:ext>
            </a:extLst>
          </p:cNvPr>
          <p:cNvSpPr txBox="1"/>
          <p:nvPr/>
        </p:nvSpPr>
        <p:spPr>
          <a:xfrm>
            <a:off x="338759" y="1058760"/>
            <a:ext cx="11769191" cy="4908600"/>
          </a:xfrm>
          <a:prstGeom prst="rect">
            <a:avLst/>
          </a:prstGeom>
          <a:noFill/>
          <a:ln>
            <a:noFill/>
          </a:ln>
        </p:spPr>
        <p:txBody>
          <a:bodyPr lIns="90000" tIns="45000" rIns="90000" bIns="45000">
            <a:noAutofit/>
          </a:bodyPr>
          <a:lstStyle/>
          <a:p>
            <a:endParaRPr lang="en-US" sz="2800" b="0" strike="noStrike" spc="-1">
              <a:solidFill>
                <a:srgbClr val="000000"/>
              </a:solidFill>
              <a:latin typeface="Calibri"/>
            </a:endParaRPr>
          </a:p>
        </p:txBody>
      </p:sp>
      <p:sp>
        <p:nvSpPr>
          <p:cNvPr id="313" name="TextShape 2">
            <a:extLst>
              <a:ext uri="{FF2B5EF4-FFF2-40B4-BE49-F238E27FC236}">
                <a16:creationId xmlns:a16="http://schemas.microsoft.com/office/drawing/2014/main" id="{9A13AAF3-89B0-3FB9-F52C-867AB850F66E}"/>
              </a:ext>
            </a:extLst>
          </p:cNvPr>
          <p:cNvSpPr txBox="1"/>
          <p:nvPr/>
        </p:nvSpPr>
        <p:spPr>
          <a:xfrm>
            <a:off x="338760" y="112680"/>
            <a:ext cx="1151424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
        <p:nvSpPr>
          <p:cNvPr id="3" name="TextBox 2">
            <a:extLst>
              <a:ext uri="{FF2B5EF4-FFF2-40B4-BE49-F238E27FC236}">
                <a16:creationId xmlns:a16="http://schemas.microsoft.com/office/drawing/2014/main" id="{8AADA54D-D973-660B-5BD4-C54C7DA6E3E7}"/>
              </a:ext>
            </a:extLst>
          </p:cNvPr>
          <p:cNvSpPr txBox="1"/>
          <p:nvPr/>
        </p:nvSpPr>
        <p:spPr>
          <a:xfrm>
            <a:off x="83808" y="95891"/>
            <a:ext cx="12024143" cy="461665"/>
          </a:xfrm>
          <a:prstGeom prst="rect">
            <a:avLst/>
          </a:prstGeom>
          <a:noFill/>
        </p:spPr>
        <p:txBody>
          <a:bodyPr wrap="square" rtlCol="0">
            <a:spAutoFit/>
          </a:bodyPr>
          <a:lstStyle/>
          <a:p>
            <a:r>
              <a:rPr lang="en-US" sz="2400" b="1" dirty="0" err="1">
                <a:solidFill>
                  <a:schemeClr val="bg1"/>
                </a:solidFill>
              </a:rPr>
              <a:t>Kiến</a:t>
            </a:r>
            <a:r>
              <a:rPr lang="en-US" sz="2400" b="1" dirty="0">
                <a:solidFill>
                  <a:schemeClr val="bg1"/>
                </a:solidFill>
              </a:rPr>
              <a:t> </a:t>
            </a:r>
            <a:r>
              <a:rPr lang="en-US" sz="2400" b="1" dirty="0" err="1">
                <a:solidFill>
                  <a:schemeClr val="bg1"/>
                </a:solidFill>
              </a:rPr>
              <a:t>trúc</a:t>
            </a:r>
            <a:r>
              <a:rPr lang="en-US" sz="2400" b="1" dirty="0">
                <a:solidFill>
                  <a:schemeClr val="bg1"/>
                </a:solidFill>
              </a:rPr>
              <a:t> </a:t>
            </a:r>
            <a:r>
              <a:rPr lang="en-US" sz="2400" b="1" dirty="0" err="1">
                <a:solidFill>
                  <a:schemeClr val="bg1"/>
                </a:solidFill>
              </a:rPr>
              <a:t>mạng</a:t>
            </a:r>
            <a:r>
              <a:rPr lang="en-US" sz="2400" b="1" dirty="0">
                <a:solidFill>
                  <a:schemeClr val="bg1"/>
                </a:solidFill>
              </a:rPr>
              <a:t> Neural </a:t>
            </a:r>
            <a:r>
              <a:rPr lang="en-US" sz="2400" b="1" dirty="0" err="1">
                <a:solidFill>
                  <a:schemeClr val="bg1"/>
                </a:solidFill>
              </a:rPr>
              <a:t>cho</a:t>
            </a:r>
            <a:r>
              <a:rPr lang="en-US" sz="2400" b="1" dirty="0">
                <a:solidFill>
                  <a:schemeClr val="bg1"/>
                </a:solidFill>
              </a:rPr>
              <a:t> </a:t>
            </a:r>
            <a:r>
              <a:rPr lang="en-US" sz="2400" b="1" dirty="0" err="1">
                <a:solidFill>
                  <a:schemeClr val="bg1"/>
                </a:solidFill>
              </a:rPr>
              <a:t>bài</a:t>
            </a:r>
            <a:r>
              <a:rPr lang="en-US" sz="2400" b="1" dirty="0">
                <a:solidFill>
                  <a:schemeClr val="bg1"/>
                </a:solidFill>
              </a:rPr>
              <a:t> </a:t>
            </a:r>
            <a:r>
              <a:rPr lang="en-US" sz="2400" b="1" dirty="0" err="1">
                <a:solidFill>
                  <a:schemeClr val="bg1"/>
                </a:solidFill>
              </a:rPr>
              <a:t>toán</a:t>
            </a:r>
            <a:endParaRPr lang="vi-VN" sz="2400" b="1" dirty="0">
              <a:solidFill>
                <a:schemeClr val="bg1"/>
              </a:solidFill>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3FFB8202-778D-B905-5A67-9676CE7B6873}"/>
                  </a:ext>
                </a:extLst>
              </p:cNvPr>
              <p:cNvSpPr txBox="1"/>
              <p:nvPr/>
            </p:nvSpPr>
            <p:spPr>
              <a:xfrm>
                <a:off x="157604" y="890640"/>
                <a:ext cx="11514239" cy="5559599"/>
              </a:xfrm>
              <a:prstGeom prst="rect">
                <a:avLst/>
              </a:prstGeom>
              <a:noFill/>
            </p:spPr>
            <p:txBody>
              <a:bodyPr wrap="square" rtlCol="0">
                <a:spAutoFit/>
              </a:bodyPr>
              <a:lstStyle/>
              <a:p>
                <a:r>
                  <a:rPr lang="vi-VN" b="1" dirty="0"/>
                  <a:t>Phân rã xác suất chuỗi:</a:t>
                </a:r>
                <a:r>
                  <a:rPr lang="vi-VN" dirty="0"/>
                  <a:t> Với đồ thị </a:t>
                </a:r>
                <a14:m>
                  <m:oMath xmlns:m="http://schemas.openxmlformats.org/officeDocument/2006/math">
                    <m:r>
                      <a:rPr lang="vi-VN" i="1"/>
                      <m:t>𝑛</m:t>
                    </m:r>
                  </m:oMath>
                </a14:m>
                <a:r>
                  <a:rPr lang="vi-VN" dirty="0"/>
                  <a:t>thành phố </a:t>
                </a:r>
                <a14:m>
                  <m:oMath xmlns:m="http://schemas.openxmlformats.org/officeDocument/2006/math">
                    <m:r>
                      <a:rPr lang="vi-VN" i="1"/>
                      <m:t>𝑠</m:t>
                    </m:r>
                    <m:r>
                      <a:rPr lang="vi-VN"/>
                      <m:t>=</m:t>
                    </m:r>
                    <m:sSubSup>
                      <m:sSubSupPr>
                        <m:ctrlPr>
                          <a:rPr lang="vi-VN" i="1"/>
                        </m:ctrlPr>
                      </m:sSubSupPr>
                      <m:e>
                        <m:d>
                          <m:dPr>
                            <m:begChr m:val="{"/>
                            <m:endChr m:val="}"/>
                            <m:ctrlPr>
                              <a:rPr lang="vi-VN" i="1"/>
                            </m:ctrlPr>
                          </m:dPr>
                          <m:e>
                            <m:sSub>
                              <m:sSubPr>
                                <m:ctrlPr>
                                  <a:rPr lang="vi-VN" i="1"/>
                                </m:ctrlPr>
                              </m:sSubPr>
                              <m:e>
                                <m:r>
                                  <a:rPr lang="vi-VN" i="1"/>
                                  <m:t>𝑥</m:t>
                                </m:r>
                              </m:e>
                              <m:sub>
                                <m:r>
                                  <a:rPr lang="vi-VN" i="1"/>
                                  <m:t>𝑖</m:t>
                                </m:r>
                              </m:sub>
                            </m:sSub>
                          </m:e>
                        </m:d>
                      </m:e>
                      <m:sub>
                        <m:r>
                          <a:rPr lang="vi-VN" i="1"/>
                          <m:t>𝑖</m:t>
                        </m:r>
                        <m:r>
                          <a:rPr lang="vi-VN"/>
                          <m:t>=1</m:t>
                        </m:r>
                      </m:sub>
                      <m:sup>
                        <m:r>
                          <a:rPr lang="vi-VN" i="1"/>
                          <m:t>𝑛</m:t>
                        </m:r>
                      </m:sup>
                    </m:sSubSup>
                  </m:oMath>
                </a14:m>
                <a:r>
                  <a:rPr lang="vi-VN" dirty="0"/>
                  <a:t>(</a:t>
                </a:r>
                <a14:m>
                  <m:oMath xmlns:m="http://schemas.openxmlformats.org/officeDocument/2006/math">
                    <m:sSub>
                      <m:sSubPr>
                        <m:ctrlPr>
                          <a:rPr lang="vi-VN" i="1"/>
                        </m:ctrlPr>
                      </m:sSubPr>
                      <m:e>
                        <m:r>
                          <a:rPr lang="vi-VN" i="1"/>
                          <m:t>𝑥</m:t>
                        </m:r>
                      </m:e>
                      <m:sub>
                        <m:r>
                          <a:rPr lang="vi-VN" i="1"/>
                          <m:t>𝑖</m:t>
                        </m:r>
                      </m:sub>
                    </m:sSub>
                    <m:r>
                      <a:rPr lang="vi-VN"/>
                      <m:t>∈</m:t>
                    </m:r>
                    <m:sSup>
                      <m:sSupPr>
                        <m:ctrlPr>
                          <a:rPr lang="vi-VN"/>
                        </m:ctrlPr>
                      </m:sSupPr>
                      <m:e>
                        <m:r>
                          <a:rPr lang="vi-VN"/>
                          <m:t>ℝ</m:t>
                        </m:r>
                      </m:e>
                      <m:sup>
                        <m:r>
                          <a:rPr lang="vi-VN"/>
                          <m:t>2</m:t>
                        </m:r>
                      </m:sup>
                    </m:sSup>
                  </m:oMath>
                </a14:m>
                <a:r>
                  <a:rPr lang="vi-VN" dirty="0"/>
                  <a:t>), xác suất để mô hình chọn một tour hoán vị </a:t>
                </a:r>
                <a14:m>
                  <m:oMath xmlns:m="http://schemas.openxmlformats.org/officeDocument/2006/math">
                    <m:r>
                      <a:rPr lang="vi-VN" i="1"/>
                      <m:t>𝜋</m:t>
                    </m:r>
                  </m:oMath>
                </a14:m>
                <a:r>
                  <a:rPr lang="vi-VN" dirty="0"/>
                  <a:t>được phân rã theo quy tắc chuỗi: </a:t>
                </a:r>
              </a:p>
              <a:p>
                <a14:m>
                  <m:oMathPara xmlns:m="http://schemas.openxmlformats.org/officeDocument/2006/math">
                    <m:oMath>
                      <m:r>
                        <a:rPr lang="vi-VN" i="1"/>
                        <m:t>𝑝</m:t>
                      </m:r>
                      <m:d>
                        <m:dPr>
                          <m:ctrlPr>
                            <a:rPr lang="vi-VN" i="1"/>
                          </m:ctrlPr>
                        </m:dPr>
                        <m:e>
                          <m:r>
                            <a:rPr lang="vi-VN" i="1"/>
                            <m:t>𝜋</m:t>
                          </m:r>
                          <m:r>
                            <a:rPr lang="vi-VN"/>
                            <m:t>|</m:t>
                          </m:r>
                          <m:r>
                            <a:rPr lang="vi-VN" i="1"/>
                            <m:t>𝑠</m:t>
                          </m:r>
                        </m:e>
                      </m:d>
                      <m:r>
                        <a:rPr lang="vi-VN"/>
                        <m:t>=</m:t>
                      </m:r>
                      <m:nary>
                        <m:naryPr>
                          <m:chr m:val="∏"/>
                          <m:limLoc m:val="undOvr"/>
                          <m:ctrlPr>
                            <a:rPr lang="vi-VN" i="1"/>
                          </m:ctrlPr>
                        </m:naryPr>
                        <m:sub>
                          <m:r>
                            <a:rPr lang="vi-VN" i="1"/>
                            <m:t>𝑖</m:t>
                          </m:r>
                          <m:r>
                            <a:rPr lang="vi-VN"/>
                            <m:t>=1</m:t>
                          </m:r>
                        </m:sub>
                        <m:sup>
                          <m:r>
                            <a:rPr lang="vi-VN" i="1"/>
                            <m:t>𝑛</m:t>
                          </m:r>
                        </m:sup>
                        <m:e>
                          <m:r>
                            <a:rPr lang="vi-VN" i="1"/>
                            <m:t>𝑝</m:t>
                          </m:r>
                        </m:e>
                      </m:nary>
                      <m:d>
                        <m:dPr>
                          <m:ctrlPr>
                            <a:rPr lang="vi-VN" i="1"/>
                          </m:ctrlPr>
                        </m:dPr>
                        <m:e>
                          <m:r>
                            <a:rPr lang="vi-VN" i="1"/>
                            <m:t>𝜋</m:t>
                          </m:r>
                          <m:d>
                            <m:dPr>
                              <m:ctrlPr>
                                <a:rPr lang="vi-VN" i="1"/>
                              </m:ctrlPr>
                            </m:dPr>
                            <m:e>
                              <m:r>
                                <a:rPr lang="vi-VN" i="1"/>
                                <m:t>𝑖</m:t>
                              </m:r>
                            </m:e>
                          </m:d>
                          <m:r>
                            <a:rPr lang="vi-VN"/>
                            <m:t>|</m:t>
                          </m:r>
                          <m:r>
                            <a:rPr lang="vi-VN" i="1"/>
                            <m:t>𝜋</m:t>
                          </m:r>
                          <m:d>
                            <m:dPr>
                              <m:ctrlPr>
                                <a:rPr lang="vi-VN"/>
                              </m:ctrlPr>
                            </m:dPr>
                            <m:e>
                              <m:r>
                                <a:rPr lang="vi-VN"/>
                                <m:t>&lt;</m:t>
                              </m:r>
                              <m:r>
                                <a:rPr lang="vi-VN" i="1"/>
                                <m:t>𝑖</m:t>
                              </m:r>
                            </m:e>
                          </m:d>
                          <m:r>
                            <a:rPr lang="vi-VN"/>
                            <m:t>,</m:t>
                          </m:r>
                          <m:r>
                            <a:rPr lang="vi-VN" i="1"/>
                            <m:t>𝑠</m:t>
                          </m:r>
                        </m:e>
                      </m:d>
                    </m:oMath>
                  </m:oMathPara>
                </a14:m>
                <a:endParaRPr lang="vi-VN" dirty="0"/>
              </a:p>
              <a:p>
                <a:r>
                  <a:rPr lang="vi-VN" dirty="0"/>
                  <a:t>mô tả xác suất ghé thăm thành phố tiếp theo dựa trên các thành phố đã đi qua và toàn bộ đồ thị đầu vào.</a:t>
                </a:r>
                <a:endParaRPr lang="en-US" dirty="0"/>
              </a:p>
              <a:p>
                <a:pPr lvl="0"/>
                <a:r>
                  <a:rPr lang="vi-VN" b="1" dirty="0"/>
                  <a:t>Pointer Network:</a:t>
                </a:r>
                <a:r>
                  <a:rPr lang="vi-VN" dirty="0"/>
                  <a:t> Để xử lý tập đầu vào có quy mô linh hoạt, bài báo sử dụng kiến trúc Pointer Network gồm mạng </a:t>
                </a:r>
                <a:r>
                  <a:rPr lang="vi-VN" b="1" dirty="0"/>
                  <a:t>Encoder LSTM</a:t>
                </a:r>
                <a:r>
                  <a:rPr lang="vi-VN" dirty="0"/>
                  <a:t> và </a:t>
                </a:r>
                <a:r>
                  <a:rPr lang="vi-VN" b="1" dirty="0"/>
                  <a:t>Decoder LSTM</a:t>
                </a:r>
                <a:r>
                  <a:rPr lang="vi-VN" dirty="0"/>
                  <a:t>: </a:t>
                </a:r>
                <a:endParaRPr lang="en-US" dirty="0"/>
              </a:p>
              <a:p>
                <a:pPr lvl="0"/>
                <a:r>
                  <a:rPr lang="vi-VN" b="1" dirty="0"/>
                  <a:t>Encoder:</a:t>
                </a:r>
                <a:r>
                  <a:rPr lang="vi-VN" dirty="0"/>
                  <a:t> Chuyển đổi tọa độ 2D của từng thành phố qua một phép biến đổi tuyến tính chia sẻ trọng số thành các vectơ nhúng </a:t>
                </a:r>
                <a14:m>
                  <m:oMath xmlns:m="http://schemas.openxmlformats.org/officeDocument/2006/math">
                    <m:r>
                      <a:rPr lang="vi-VN" i="1"/>
                      <m:t>𝑑</m:t>
                    </m:r>
                  </m:oMath>
                </a14:m>
                <a:r>
                  <a:rPr lang="vi-VN" dirty="0"/>
                  <a:t>-chiều và tạo ra chuỗi trạng thái ẩn </a:t>
                </a:r>
                <a14:m>
                  <m:oMath xmlns:m="http://schemas.openxmlformats.org/officeDocument/2006/math">
                    <m:sSubSup>
                      <m:sSubSupPr>
                        <m:ctrlPr>
                          <a:rPr lang="vi-VN" i="1"/>
                        </m:ctrlPr>
                      </m:sSubSupPr>
                      <m:e>
                        <m:d>
                          <m:dPr>
                            <m:begChr m:val="{"/>
                            <m:endChr m:val="}"/>
                            <m:ctrlPr>
                              <a:rPr lang="vi-VN" i="1"/>
                            </m:ctrlPr>
                          </m:dPr>
                          <m:e>
                            <m:r>
                              <a:rPr lang="vi-VN" i="1"/>
                              <m:t>𝑒𝑛</m:t>
                            </m:r>
                            <m:sSub>
                              <m:sSubPr>
                                <m:ctrlPr>
                                  <a:rPr lang="vi-VN" i="1"/>
                                </m:ctrlPr>
                              </m:sSubPr>
                              <m:e>
                                <m:r>
                                  <a:rPr lang="vi-VN" i="1"/>
                                  <m:t>𝑐</m:t>
                                </m:r>
                              </m:e>
                              <m:sub>
                                <m:r>
                                  <a:rPr lang="vi-VN" i="1"/>
                                  <m:t>𝑖</m:t>
                                </m:r>
                              </m:sub>
                            </m:sSub>
                          </m:e>
                        </m:d>
                      </m:e>
                      <m:sub>
                        <m:r>
                          <a:rPr lang="vi-VN" i="1"/>
                          <m:t>𝑖</m:t>
                        </m:r>
                        <m:r>
                          <a:rPr lang="vi-VN"/>
                          <m:t>=1</m:t>
                        </m:r>
                      </m:sub>
                      <m:sup>
                        <m:r>
                          <a:rPr lang="vi-VN" i="1"/>
                          <m:t>𝑛</m:t>
                        </m:r>
                      </m:sup>
                    </m:sSubSup>
                  </m:oMath>
                </a14:m>
                <a:r>
                  <a:rPr lang="vi-VN" dirty="0"/>
                  <a:t>. </a:t>
                </a:r>
                <a:endParaRPr lang="en-US" dirty="0"/>
              </a:p>
              <a:p>
                <a:pPr lvl="0"/>
                <a:r>
                  <a:rPr lang="vi-VN" b="1" dirty="0"/>
                  <a:t>Decoder:</a:t>
                </a:r>
                <a:r>
                  <a:rPr lang="vi-VN" dirty="0"/>
                  <a:t> Duy trì trạng thái ẩn </a:t>
                </a:r>
                <a14:m>
                  <m:oMath xmlns:m="http://schemas.openxmlformats.org/officeDocument/2006/math">
                    <m:r>
                      <a:rPr lang="vi-VN" i="1"/>
                      <m:t>𝑑𝑒</m:t>
                    </m:r>
                    <m:sSub>
                      <m:sSubPr>
                        <m:ctrlPr>
                          <a:rPr lang="vi-VN" i="1"/>
                        </m:ctrlPr>
                      </m:sSubPr>
                      <m:e>
                        <m:r>
                          <a:rPr lang="vi-VN" i="1"/>
                          <m:t>𝑐</m:t>
                        </m:r>
                      </m:e>
                      <m:sub>
                        <m:r>
                          <a:rPr lang="vi-VN" i="1"/>
                          <m:t>𝑖</m:t>
                        </m:r>
                      </m:sub>
                    </m:sSub>
                  </m:oMath>
                </a14:m>
                <a:r>
                  <a:rPr lang="vi-VN" dirty="0"/>
                  <a:t>tại mỗi bước giải mã để làm vectơ truy vấn (query). </a:t>
                </a:r>
                <a:endParaRPr lang="en-US" dirty="0"/>
              </a:p>
              <a:p>
                <a:pPr lvl="0"/>
                <a:r>
                  <a:rPr lang="vi-VN" b="1" dirty="0"/>
                  <a:t>Cơ chế chỉ trỏ (Pointing Mechanism):</a:t>
                </a:r>
                <a:r>
                  <a:rPr lang="vi-VN" dirty="0"/>
                  <a:t> Sử dụng hàm Softmax phi tham số dựa trên cơ chế Attention để tính xác suất chọn thành phố tiếp theo từ tập các trạng thái tham chiếu của Encoder. Đầu vào cho bước giải mã đầu tiên là một vectơ tham số huấn luyện được </a:t>
                </a:r>
                <a14:m>
                  <m:oMath xmlns:m="http://schemas.openxmlformats.org/officeDocument/2006/math">
                    <m:d>
                      <m:dPr>
                        <m:begChr m:val="⟨"/>
                        <m:endChr m:val="⟩"/>
                        <m:ctrlPr>
                          <a:rPr lang="vi-VN" i="1"/>
                        </m:ctrlPr>
                      </m:dPr>
                      <m:e>
                        <m:r>
                          <a:rPr lang="vi-VN" i="1"/>
                          <m:t>𝑔</m:t>
                        </m:r>
                      </m:e>
                    </m:d>
                  </m:oMath>
                </a14:m>
                <a:r>
                  <a:rPr lang="vi-VN" dirty="0"/>
                  <a:t>. </a:t>
                </a:r>
              </a:p>
              <a:p>
                <a:pPr lvl="0"/>
                <a:r>
                  <a:rPr lang="vi-VN" b="1" dirty="0"/>
                  <a:t>Đảm bảo tính hợp lệ của tour:</a:t>
                </a:r>
                <a:r>
                  <a:rPr lang="vi-VN" dirty="0"/>
                  <a:t> Logit của các thành phố đã được ghé thăm ở các bước trước được gán bằng </a:t>
                </a:r>
                <a14:m>
                  <m:oMath xmlns:m="http://schemas.openxmlformats.org/officeDocument/2006/math">
                    <m:r>
                      <a:rPr lang="vi-VN"/>
                      <m:t>−∞</m:t>
                    </m:r>
                  </m:oMath>
                </a14:m>
                <a:r>
                  <a:rPr lang="vi-VN" dirty="0"/>
                  <a:t>, đảm bảo Softmax gán xác suất bằng 0 và không chọn trùng thành phố. </a:t>
                </a:r>
              </a:p>
              <a:p>
                <a:pPr lvl="0"/>
                <a:r>
                  <a:rPr lang="vi-VN" b="1" dirty="0"/>
                  <a:t>Cơ chế Glimpse:</a:t>
                </a:r>
                <a:r>
                  <a:rPr lang="vi-VN" dirty="0"/>
                  <a:t> Bổ sung thêm một bước tính toán tổ hợp tuyến tính các vectơ tham chiếu trước khi chỉ trỏ, giúp mô hình "nhìn lướt" tổng hợp thông tin đồ thị. Việc dùng 1 glimpse cải thiện rõ rệt hiệu năng mô hình với chi phí tính toán không đáng kể. </a:t>
                </a:r>
              </a:p>
              <a:p>
                <a:endParaRPr lang="vi-VN" dirty="0"/>
              </a:p>
            </p:txBody>
          </p:sp>
        </mc:Choice>
        <mc:Fallback>
          <p:sp>
            <p:nvSpPr>
              <p:cNvPr id="7" name="TextBox 6">
                <a:extLst>
                  <a:ext uri="{FF2B5EF4-FFF2-40B4-BE49-F238E27FC236}">
                    <a16:creationId xmlns:a16="http://schemas.microsoft.com/office/drawing/2014/main" id="{3FFB8202-778D-B905-5A67-9676CE7B6873}"/>
                  </a:ext>
                </a:extLst>
              </p:cNvPr>
              <p:cNvSpPr txBox="1">
                <a:spLocks noRot="1" noChangeAspect="1" noMove="1" noResize="1" noEditPoints="1" noAdjustHandles="1" noChangeArrowheads="1" noChangeShapeType="1" noTextEdit="1"/>
              </p:cNvSpPr>
              <p:nvPr/>
            </p:nvSpPr>
            <p:spPr>
              <a:xfrm>
                <a:off x="157604" y="890640"/>
                <a:ext cx="11514239" cy="5559599"/>
              </a:xfrm>
              <a:prstGeom prst="rect">
                <a:avLst/>
              </a:prstGeom>
              <a:blipFill>
                <a:blip r:embed="rId2"/>
                <a:stretch>
                  <a:fillRect l="-476" t="-439" r="-688"/>
                </a:stretch>
              </a:blipFill>
            </p:spPr>
            <p:txBody>
              <a:bodyPr/>
              <a:lstStyle/>
              <a:p>
                <a:r>
                  <a:rPr lang="vi-VN">
                    <a:noFill/>
                  </a:rPr>
                  <a:t> </a:t>
                </a:r>
              </a:p>
            </p:txBody>
          </p:sp>
        </mc:Fallback>
      </mc:AlternateContent>
    </p:spTree>
    <p:extLst>
      <p:ext uri="{BB962C8B-B14F-4D97-AF65-F5344CB8AC3E}">
        <p14:creationId xmlns:p14="http://schemas.microsoft.com/office/powerpoint/2010/main" val="204068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F415A-0069-F469-3AAE-5D33D2755C76}"/>
            </a:ext>
          </a:extLst>
        </p:cNvPr>
        <p:cNvGrpSpPr/>
        <p:nvPr/>
      </p:nvGrpSpPr>
      <p:grpSpPr>
        <a:xfrm>
          <a:off x="0" y="0"/>
          <a:ext cx="0" cy="0"/>
          <a:chOff x="0" y="0"/>
          <a:chExt cx="0" cy="0"/>
        </a:xfrm>
      </p:grpSpPr>
      <p:sp>
        <p:nvSpPr>
          <p:cNvPr id="312" name="TextShape 1">
            <a:extLst>
              <a:ext uri="{FF2B5EF4-FFF2-40B4-BE49-F238E27FC236}">
                <a16:creationId xmlns:a16="http://schemas.microsoft.com/office/drawing/2014/main" id="{21288A8A-991E-6932-6BD3-DB3E15252C71}"/>
              </a:ext>
            </a:extLst>
          </p:cNvPr>
          <p:cNvSpPr txBox="1"/>
          <p:nvPr/>
        </p:nvSpPr>
        <p:spPr>
          <a:xfrm>
            <a:off x="338760" y="1058760"/>
            <a:ext cx="11514240" cy="4908600"/>
          </a:xfrm>
          <a:prstGeom prst="rect">
            <a:avLst/>
          </a:prstGeom>
          <a:noFill/>
          <a:ln>
            <a:noFill/>
          </a:ln>
        </p:spPr>
        <p:txBody>
          <a:bodyPr lIns="90000" tIns="45000" rIns="90000" bIns="45000">
            <a:noAutofit/>
          </a:bodyPr>
          <a:lstStyle/>
          <a:p>
            <a:endParaRPr lang="en-US" sz="2800" b="0" strike="noStrike" spc="-1">
              <a:solidFill>
                <a:srgbClr val="000000"/>
              </a:solidFill>
              <a:latin typeface="Calibri"/>
            </a:endParaRPr>
          </a:p>
        </p:txBody>
      </p:sp>
      <p:sp>
        <p:nvSpPr>
          <p:cNvPr id="313" name="TextShape 2">
            <a:extLst>
              <a:ext uri="{FF2B5EF4-FFF2-40B4-BE49-F238E27FC236}">
                <a16:creationId xmlns:a16="http://schemas.microsoft.com/office/drawing/2014/main" id="{146D9F8E-9CD7-ED50-7AFF-ACC7EBEF1B07}"/>
              </a:ext>
            </a:extLst>
          </p:cNvPr>
          <p:cNvSpPr txBox="1"/>
          <p:nvPr/>
        </p:nvSpPr>
        <p:spPr>
          <a:xfrm>
            <a:off x="338760" y="112680"/>
            <a:ext cx="1151424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
        <p:nvSpPr>
          <p:cNvPr id="3" name="TextBox 2">
            <a:extLst>
              <a:ext uri="{FF2B5EF4-FFF2-40B4-BE49-F238E27FC236}">
                <a16:creationId xmlns:a16="http://schemas.microsoft.com/office/drawing/2014/main" id="{14612B70-DB82-A137-2DFF-09FF9638272D}"/>
              </a:ext>
            </a:extLst>
          </p:cNvPr>
          <p:cNvSpPr txBox="1"/>
          <p:nvPr/>
        </p:nvSpPr>
        <p:spPr>
          <a:xfrm>
            <a:off x="83808" y="95891"/>
            <a:ext cx="12024143" cy="461665"/>
          </a:xfrm>
          <a:prstGeom prst="rect">
            <a:avLst/>
          </a:prstGeom>
          <a:noFill/>
        </p:spPr>
        <p:txBody>
          <a:bodyPr wrap="square" rtlCol="0">
            <a:spAutoFit/>
          </a:bodyPr>
          <a:lstStyle/>
          <a:p>
            <a:r>
              <a:rPr lang="vi-VN" sz="2400" b="1" dirty="0">
                <a:solidFill>
                  <a:schemeClr val="bg1"/>
                </a:solidFill>
              </a:rPr>
              <a:t>Huấn Luyện Mạng Không Cần Nhãn Với Thuật Toán REINFORCE</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61F5DCBE-C735-A83E-9450-7F0975B6961C}"/>
                  </a:ext>
                </a:extLst>
              </p:cNvPr>
              <p:cNvSpPr txBox="1"/>
              <p:nvPr/>
            </p:nvSpPr>
            <p:spPr>
              <a:xfrm>
                <a:off x="204578" y="995436"/>
                <a:ext cx="11514240" cy="4958217"/>
              </a:xfrm>
              <a:prstGeom prst="rect">
                <a:avLst/>
              </a:prstGeom>
              <a:noFill/>
            </p:spPr>
            <p:txBody>
              <a:bodyPr wrap="square" rtlCol="0">
                <a:spAutoFit/>
              </a:bodyPr>
              <a:lstStyle/>
              <a:p>
                <a:r>
                  <a:rPr lang="vi-VN" dirty="0"/>
                  <a:t>Để vượt qua hạn chế của học có giám sát (chi phí tạo nhãn tối ưu cao và khả năng tổng quát hóa kém), bài báo áp dụng phương pháp Học tăng cường theo cơ chế Policy Gradient: </a:t>
                </a:r>
              </a:p>
              <a:p>
                <a:pPr lvl="0"/>
                <a:r>
                  <a:rPr lang="vi-VN" b="1" dirty="0"/>
                  <a:t>Hàm mục tiêu:</a:t>
                </a:r>
                <a:r>
                  <a:rPr lang="vi-VN" dirty="0"/>
                  <a:t> Tối thiểu hóa độ dài tour kỳ vọng: </a:t>
                </a:r>
              </a:p>
              <a:p>
                <a:pPr lvl="0"/>
                <a14:m>
                  <m:oMathPara xmlns:m="http://schemas.openxmlformats.org/officeDocument/2006/math">
                    <m:oMath>
                      <m:r>
                        <a:rPr lang="vi-VN" i="1"/>
                        <m:t>𝐽</m:t>
                      </m:r>
                      <m:d>
                        <m:dPr>
                          <m:ctrlPr>
                            <a:rPr lang="vi-VN" i="1"/>
                          </m:ctrlPr>
                        </m:dPr>
                        <m:e>
                          <m:r>
                            <a:rPr lang="vi-VN" i="1"/>
                            <m:t>𝜃</m:t>
                          </m:r>
                          <m:r>
                            <a:rPr lang="vi-VN"/>
                            <m:t>|</m:t>
                          </m:r>
                          <m:r>
                            <a:rPr lang="vi-VN" i="1"/>
                            <m:t>𝑠</m:t>
                          </m:r>
                        </m:e>
                      </m:d>
                      <m:r>
                        <a:rPr lang="vi-VN"/>
                        <m:t>=</m:t>
                      </m:r>
                      <m:sSub>
                        <m:sSubPr>
                          <m:ctrlPr>
                            <a:rPr lang="vi-VN"/>
                          </m:ctrlPr>
                        </m:sSubPr>
                        <m:e>
                          <m:r>
                            <a:rPr lang="vi-VN"/>
                            <m:t>𝔼</m:t>
                          </m:r>
                        </m:e>
                        <m:sub>
                          <m:r>
                            <a:rPr lang="vi-VN" i="1"/>
                            <m:t>𝜋</m:t>
                          </m:r>
                          <m:r>
                            <a:rPr lang="vi-VN"/>
                            <m:t>∼</m:t>
                          </m:r>
                          <m:sSub>
                            <m:sSubPr>
                              <m:ctrlPr>
                                <a:rPr lang="vi-VN" i="1"/>
                              </m:ctrlPr>
                            </m:sSubPr>
                            <m:e>
                              <m:r>
                                <a:rPr lang="vi-VN" i="1"/>
                                <m:t>𝑝</m:t>
                              </m:r>
                            </m:e>
                            <m:sub>
                              <m:r>
                                <a:rPr lang="vi-VN" i="1"/>
                                <m:t>𝜃</m:t>
                              </m:r>
                            </m:sub>
                          </m:sSub>
                          <m:d>
                            <m:dPr>
                              <m:ctrlPr>
                                <a:rPr lang="vi-VN"/>
                              </m:ctrlPr>
                            </m:dPr>
                            <m:e>
                              <m:r>
                                <a:rPr lang="vi-VN"/>
                                <m:t>⋅|</m:t>
                              </m:r>
                              <m:r>
                                <a:rPr lang="vi-VN" i="1"/>
                                <m:t>𝑠</m:t>
                              </m:r>
                            </m:e>
                          </m:d>
                        </m:sub>
                      </m:sSub>
                      <m:d>
                        <m:dPr>
                          <m:begChr m:val="["/>
                          <m:endChr m:val="]"/>
                          <m:ctrlPr>
                            <a:rPr lang="vi-VN" i="1"/>
                          </m:ctrlPr>
                        </m:dPr>
                        <m:e>
                          <m:r>
                            <a:rPr lang="vi-VN" i="1"/>
                            <m:t>𝐿</m:t>
                          </m:r>
                          <m:d>
                            <m:dPr>
                              <m:ctrlPr>
                                <a:rPr lang="vi-VN" i="1"/>
                              </m:ctrlPr>
                            </m:dPr>
                            <m:e>
                              <m:r>
                                <a:rPr lang="vi-VN" i="1"/>
                                <m:t>𝜋</m:t>
                              </m:r>
                              <m:r>
                                <a:rPr lang="vi-VN"/>
                                <m:t>|</m:t>
                              </m:r>
                              <m:r>
                                <a:rPr lang="vi-VN" i="1"/>
                                <m:t>𝑠</m:t>
                              </m:r>
                            </m:e>
                          </m:d>
                        </m:e>
                      </m:d>
                    </m:oMath>
                  </m:oMathPara>
                </a14:m>
                <a:endParaRPr lang="vi-VN" dirty="0"/>
              </a:p>
              <a:p>
                <a:pPr lvl="0"/>
                <a:r>
                  <a:rPr lang="vi-VN" dirty="0"/>
                  <a:t>với tín hiệu thưởng (reward) chính là độ dài tour </a:t>
                </a:r>
                <a14:m>
                  <m:oMath xmlns:m="http://schemas.openxmlformats.org/officeDocument/2006/math">
                    <m:r>
                      <a:rPr lang="vi-VN" i="1"/>
                      <m:t>𝐿</m:t>
                    </m:r>
                    <m:d>
                      <m:dPr>
                        <m:ctrlPr>
                          <a:rPr lang="vi-VN" i="1"/>
                        </m:ctrlPr>
                      </m:dPr>
                      <m:e>
                        <m:r>
                          <a:rPr lang="vi-VN" i="1"/>
                          <m:t>𝜋</m:t>
                        </m:r>
                        <m:r>
                          <a:rPr lang="vi-VN"/>
                          <m:t>|</m:t>
                        </m:r>
                        <m:r>
                          <a:rPr lang="vi-VN" i="1"/>
                          <m:t>𝑠</m:t>
                        </m:r>
                      </m:e>
                    </m:d>
                  </m:oMath>
                </a14:m>
                <a:r>
                  <a:rPr lang="vi-VN" dirty="0"/>
                  <a:t>thu được. </a:t>
                </a:r>
                <a:endParaRPr lang="en-US" dirty="0"/>
              </a:p>
              <a:p>
                <a:pPr lvl="0"/>
                <a:endParaRPr lang="vi-VN" dirty="0"/>
              </a:p>
              <a:p>
                <a:pPr lvl="0"/>
                <a:r>
                  <a:rPr lang="vi-VN" b="1" dirty="0"/>
                  <a:t>Thuật toán REINFORCE &amp; Mạng Critic:</a:t>
                </a:r>
                <a:endParaRPr lang="vi-VN" dirty="0"/>
              </a:p>
              <a:p>
                <a:pPr lvl="1"/>
                <a:r>
                  <a:rPr lang="vi-VN" dirty="0"/>
                  <a:t>Gradient của hàm mục tiêu được tính bằng thuật toán REINFORCE: </a:t>
                </a:r>
              </a:p>
              <a:p>
                <a:pPr lvl="1"/>
                <a14:m>
                  <m:oMathPara xmlns:m="http://schemas.openxmlformats.org/officeDocument/2006/math">
                    <m:oMath>
                      <m:sSub>
                        <m:sSubPr>
                          <m:ctrlPr>
                            <a:rPr lang="vi-VN" i="1"/>
                          </m:ctrlPr>
                        </m:sSubPr>
                        <m:e>
                          <m:r>
                            <a:rPr lang="vi-VN" i="1"/>
                            <m:t>𝛻</m:t>
                          </m:r>
                        </m:e>
                        <m:sub>
                          <m:r>
                            <a:rPr lang="vi-VN" i="1"/>
                            <m:t>𝜃</m:t>
                          </m:r>
                        </m:sub>
                      </m:sSub>
                      <m:r>
                        <a:rPr lang="vi-VN" i="1"/>
                        <m:t>𝐽</m:t>
                      </m:r>
                      <m:d>
                        <m:dPr>
                          <m:ctrlPr>
                            <a:rPr lang="vi-VN" i="1"/>
                          </m:ctrlPr>
                        </m:dPr>
                        <m:e>
                          <m:r>
                            <a:rPr lang="vi-VN" i="1"/>
                            <m:t>𝜃</m:t>
                          </m:r>
                          <m:r>
                            <a:rPr lang="vi-VN"/>
                            <m:t>|</m:t>
                          </m:r>
                          <m:r>
                            <a:rPr lang="vi-VN" i="1"/>
                            <m:t>𝑠</m:t>
                          </m:r>
                        </m:e>
                      </m:d>
                      <m:r>
                        <a:rPr lang="vi-VN"/>
                        <m:t>=</m:t>
                      </m:r>
                      <m:sSub>
                        <m:sSubPr>
                          <m:ctrlPr>
                            <a:rPr lang="vi-VN"/>
                          </m:ctrlPr>
                        </m:sSubPr>
                        <m:e>
                          <m:r>
                            <a:rPr lang="vi-VN"/>
                            <m:t>𝔼</m:t>
                          </m:r>
                        </m:e>
                        <m:sub>
                          <m:r>
                            <a:rPr lang="vi-VN" i="1"/>
                            <m:t>𝜋</m:t>
                          </m:r>
                          <m:r>
                            <a:rPr lang="vi-VN"/>
                            <m:t>∼</m:t>
                          </m:r>
                          <m:sSub>
                            <m:sSubPr>
                              <m:ctrlPr>
                                <a:rPr lang="vi-VN" i="1"/>
                              </m:ctrlPr>
                            </m:sSubPr>
                            <m:e>
                              <m:r>
                                <a:rPr lang="vi-VN" i="1"/>
                                <m:t>𝑝</m:t>
                              </m:r>
                            </m:e>
                            <m:sub>
                              <m:r>
                                <a:rPr lang="vi-VN" i="1"/>
                                <m:t>𝜃</m:t>
                              </m:r>
                            </m:sub>
                          </m:sSub>
                          <m:d>
                            <m:dPr>
                              <m:ctrlPr>
                                <a:rPr lang="vi-VN"/>
                              </m:ctrlPr>
                            </m:dPr>
                            <m:e>
                              <m:r>
                                <a:rPr lang="vi-VN"/>
                                <m:t>⋅|</m:t>
                              </m:r>
                              <m:r>
                                <a:rPr lang="vi-VN" i="1"/>
                                <m:t>𝑠</m:t>
                              </m:r>
                            </m:e>
                          </m:d>
                        </m:sub>
                      </m:sSub>
                      <m:d>
                        <m:dPr>
                          <m:begChr m:val="["/>
                          <m:endChr m:val="]"/>
                          <m:ctrlPr>
                            <a:rPr lang="vi-VN" i="1"/>
                          </m:ctrlPr>
                        </m:dPr>
                        <m:e>
                          <m:d>
                            <m:dPr>
                              <m:ctrlPr>
                                <a:rPr lang="vi-VN" i="1"/>
                              </m:ctrlPr>
                            </m:dPr>
                            <m:e>
                              <m:r>
                                <a:rPr lang="vi-VN" i="1"/>
                                <m:t>𝐿</m:t>
                              </m:r>
                              <m:d>
                                <m:dPr>
                                  <m:ctrlPr>
                                    <a:rPr lang="vi-VN" i="1"/>
                                  </m:ctrlPr>
                                </m:dPr>
                                <m:e>
                                  <m:r>
                                    <a:rPr lang="vi-VN" i="1"/>
                                    <m:t>𝜋</m:t>
                                  </m:r>
                                  <m:r>
                                    <a:rPr lang="vi-VN"/>
                                    <m:t>|</m:t>
                                  </m:r>
                                  <m:r>
                                    <a:rPr lang="vi-VN" i="1"/>
                                    <m:t>𝑠</m:t>
                                  </m:r>
                                </m:e>
                              </m:d>
                              <m:r>
                                <a:rPr lang="vi-VN"/>
                                <m:t>−</m:t>
                              </m:r>
                              <m:r>
                                <a:rPr lang="vi-VN" i="1"/>
                                <m:t>𝑏</m:t>
                              </m:r>
                              <m:d>
                                <m:dPr>
                                  <m:ctrlPr>
                                    <a:rPr lang="vi-VN" i="1"/>
                                  </m:ctrlPr>
                                </m:dPr>
                                <m:e>
                                  <m:r>
                                    <a:rPr lang="vi-VN" i="1"/>
                                    <m:t>𝑠</m:t>
                                  </m:r>
                                </m:e>
                              </m:d>
                            </m:e>
                          </m:d>
                          <m:sSub>
                            <m:sSubPr>
                              <m:ctrlPr>
                                <a:rPr lang="vi-VN" i="1"/>
                              </m:ctrlPr>
                            </m:sSubPr>
                            <m:e>
                              <m:r>
                                <a:rPr lang="vi-VN" i="1"/>
                                <m:t>𝛻</m:t>
                              </m:r>
                            </m:e>
                            <m:sub>
                              <m:r>
                                <a:rPr lang="vi-VN" i="1"/>
                                <m:t>𝜃</m:t>
                              </m:r>
                            </m:sub>
                          </m:sSub>
                          <m:sSub>
                            <m:sSubPr>
                              <m:ctrlPr>
                                <a:rPr lang="vi-VN" i="1"/>
                              </m:ctrlPr>
                            </m:sSubPr>
                            <m:e>
                              <m:func>
                                <m:funcPr>
                                  <m:ctrlPr>
                                    <a:rPr lang="vi-VN"/>
                                  </m:ctrlPr>
                                </m:funcPr>
                                <m:fName>
                                  <m:r>
                                    <m:rPr>
                                      <m:sty m:val="p"/>
                                    </m:rPr>
                                    <a:rPr lang="vi-VN"/>
                                    <m:t>log</m:t>
                                  </m:r>
                                </m:fName>
                                <m:e>
                                  <m:r>
                                    <a:rPr lang="vi-VN" i="1"/>
                                    <m:t>𝑝</m:t>
                                  </m:r>
                                </m:e>
                              </m:func>
                            </m:e>
                            <m:sub>
                              <m:r>
                                <a:rPr lang="vi-VN" i="1"/>
                                <m:t>𝜃</m:t>
                              </m:r>
                            </m:sub>
                          </m:sSub>
                          <m:d>
                            <m:dPr>
                              <m:ctrlPr>
                                <a:rPr lang="vi-VN" i="1"/>
                              </m:ctrlPr>
                            </m:dPr>
                            <m:e>
                              <m:r>
                                <a:rPr lang="vi-VN" i="1"/>
                                <m:t>𝜋</m:t>
                              </m:r>
                              <m:r>
                                <a:rPr lang="vi-VN"/>
                                <m:t>|</m:t>
                              </m:r>
                              <m:r>
                                <a:rPr lang="vi-VN" i="1"/>
                                <m:t>𝑠</m:t>
                              </m:r>
                            </m:e>
                          </m:d>
                        </m:e>
                      </m:d>
                    </m:oMath>
                  </m:oMathPara>
                </a14:m>
                <a:endParaRPr lang="vi-VN" dirty="0"/>
              </a:p>
              <a:p>
                <a:pPr lvl="1"/>
                <a:r>
                  <a:rPr lang="vi-VN" dirty="0"/>
                  <a:t>trong đó </a:t>
                </a:r>
                <a14:m>
                  <m:oMath xmlns:m="http://schemas.openxmlformats.org/officeDocument/2006/math">
                    <m:r>
                      <a:rPr lang="vi-VN" i="1"/>
                      <m:t>𝑏</m:t>
                    </m:r>
                    <m:d>
                      <m:dPr>
                        <m:ctrlPr>
                          <a:rPr lang="vi-VN" i="1"/>
                        </m:ctrlPr>
                      </m:dPr>
                      <m:e>
                        <m:r>
                          <a:rPr lang="vi-VN" i="1"/>
                          <m:t>𝑠</m:t>
                        </m:r>
                      </m:e>
                    </m:d>
                  </m:oMath>
                </a14:m>
                <a:r>
                  <a:rPr lang="vi-VN" dirty="0"/>
                  <a:t>là giá trị baseline giúp giảm độ biến động (variance) của gradient. </a:t>
                </a:r>
              </a:p>
              <a:p>
                <a:pPr lvl="1"/>
                <a:r>
                  <a:rPr lang="vi-VN" b="1" dirty="0"/>
                  <a:t>Mạng Critic tham số </a:t>
                </a:r>
                <a14:m>
                  <m:oMath xmlns:m="http://schemas.openxmlformats.org/officeDocument/2006/math">
                    <m:sSub>
                      <m:sSubPr>
                        <m:ctrlPr>
                          <a:rPr lang="vi-VN" i="1"/>
                        </m:ctrlPr>
                      </m:sSubPr>
                      <m:e>
                        <m:r>
                          <a:rPr lang="vi-VN" i="1"/>
                          <m:t>𝑏</m:t>
                        </m:r>
                      </m:e>
                      <m:sub>
                        <m:sSub>
                          <m:sSubPr>
                            <m:ctrlPr>
                              <a:rPr lang="vi-VN" i="1"/>
                            </m:ctrlPr>
                          </m:sSubPr>
                          <m:e>
                            <m:r>
                              <a:rPr lang="vi-VN" i="1"/>
                              <m:t>𝜃</m:t>
                            </m:r>
                          </m:e>
                          <m:sub>
                            <m:r>
                              <a:rPr lang="vi-VN" i="1"/>
                              <m:t>𝑣</m:t>
                            </m:r>
                          </m:sub>
                        </m:sSub>
                      </m:sub>
                    </m:sSub>
                    <m:d>
                      <m:dPr>
                        <m:ctrlPr>
                          <a:rPr lang="vi-VN" i="1"/>
                        </m:ctrlPr>
                      </m:dPr>
                      <m:e>
                        <m:r>
                          <a:rPr lang="vi-VN" i="1"/>
                          <m:t>𝑠</m:t>
                        </m:r>
                      </m:e>
                    </m:d>
                  </m:oMath>
                </a14:m>
                <a:r>
                  <a:rPr lang="vi-VN" b="1" dirty="0"/>
                  <a:t>:</a:t>
                </a:r>
                <a:r>
                  <a:rPr lang="vi-VN" dirty="0"/>
                  <a:t> Thay vì dùng baseline trung bình động đơn giản, bài báo giới thiệu mạng phụ Critic để dự đoán độ dài tour kỳ vọng riêng cho từng đồ thị đầu vào </a:t>
                </a:r>
                <a14:m>
                  <m:oMath xmlns:m="http://schemas.openxmlformats.org/officeDocument/2006/math">
                    <m:r>
                      <a:rPr lang="vi-VN" i="1"/>
                      <m:t>𝑠</m:t>
                    </m:r>
                  </m:oMath>
                </a14:m>
                <a:r>
                  <a:rPr lang="vi-VN" dirty="0"/>
                  <a:t>. </a:t>
                </a:r>
              </a:p>
              <a:p>
                <a:pPr lvl="1"/>
                <a:r>
                  <a:rPr lang="vi-VN" b="1" dirty="0"/>
                  <a:t>Kiến trúc Critic:</a:t>
                </a:r>
                <a:r>
                  <a:rPr lang="vi-VN" dirty="0"/>
                  <a:t> Gồm một Encoder LSTM, một khối xử lý (process block) thực hiện </a:t>
                </a:r>
                <a14:m>
                  <m:oMath xmlns:m="http://schemas.openxmlformats.org/officeDocument/2006/math">
                    <m:r>
                      <a:rPr lang="vi-VN" i="1"/>
                      <m:t>𝑃</m:t>
                    </m:r>
                  </m:oMath>
                </a14:m>
                <a:r>
                  <a:rPr lang="vi-VN" dirty="0"/>
                  <a:t>bước glimpse, và 2 lớp mạng MLP nối tiếp để xuất ra một giá trị vô hướng dự đoán baseline </a:t>
                </a:r>
                <a14:m>
                  <m:oMath xmlns:m="http://schemas.openxmlformats.org/officeDocument/2006/math">
                    <m:sSub>
                      <m:sSubPr>
                        <m:ctrlPr>
                          <a:rPr lang="vi-VN" i="1"/>
                        </m:ctrlPr>
                      </m:sSubPr>
                      <m:e>
                        <m:r>
                          <a:rPr lang="vi-VN" i="1"/>
                          <m:t>𝑏</m:t>
                        </m:r>
                      </m:e>
                      <m:sub>
                        <m:sSub>
                          <m:sSubPr>
                            <m:ctrlPr>
                              <a:rPr lang="vi-VN" i="1"/>
                            </m:ctrlPr>
                          </m:sSubPr>
                          <m:e>
                            <m:r>
                              <a:rPr lang="vi-VN" i="1"/>
                              <m:t>𝜃</m:t>
                            </m:r>
                          </m:e>
                          <m:sub>
                            <m:r>
                              <a:rPr lang="vi-VN" i="1"/>
                              <m:t>𝑣</m:t>
                            </m:r>
                          </m:sub>
                        </m:sSub>
                      </m:sub>
                    </m:sSub>
                    <m:d>
                      <m:dPr>
                        <m:ctrlPr>
                          <a:rPr lang="vi-VN" i="1"/>
                        </m:ctrlPr>
                      </m:dPr>
                      <m:e>
                        <m:r>
                          <a:rPr lang="vi-VN" i="1"/>
                          <m:t>𝑠</m:t>
                        </m:r>
                      </m:e>
                    </m:d>
                  </m:oMath>
                </a14:m>
                <a:r>
                  <a:rPr lang="vi-VN" dirty="0"/>
                  <a:t>. </a:t>
                </a:r>
              </a:p>
              <a:p>
                <a:pPr lvl="1"/>
                <a:r>
                  <a:rPr lang="vi-VN" b="1" dirty="0"/>
                  <a:t>Cập nhật Actor-Critic:</a:t>
                </a:r>
                <a:r>
                  <a:rPr lang="vi-VN" dirty="0"/>
                  <a:t> Mạng Critic được tối ưu hóa bằng hàm mất mát MSE giữa giá trị dự đoán và độ dài tour thực tế </a:t>
                </a:r>
                <a14:m>
                  <m:oMath xmlns:m="http://schemas.openxmlformats.org/officeDocument/2006/math">
                    <m:nary>
                      <m:naryPr>
                        <m:chr m:val="∑"/>
                        <m:limLoc m:val="undOvr"/>
                        <m:subHide m:val="on"/>
                        <m:supHide m:val="on"/>
                        <m:ctrlPr>
                          <a:rPr lang="vi-VN" i="1"/>
                        </m:ctrlPr>
                      </m:naryPr>
                      <m:sub/>
                      <m:sup/>
                      <m:e>
                        <m:r>
                          <a:rPr lang="vi-VN"/>
                          <m:t>‖</m:t>
                        </m:r>
                      </m:e>
                    </m:nary>
                    <m:sSub>
                      <m:sSubPr>
                        <m:ctrlPr>
                          <a:rPr lang="vi-VN" i="1"/>
                        </m:ctrlPr>
                      </m:sSubPr>
                      <m:e>
                        <m:r>
                          <a:rPr lang="vi-VN" i="1"/>
                          <m:t>𝑏</m:t>
                        </m:r>
                      </m:e>
                      <m:sub>
                        <m:sSub>
                          <m:sSubPr>
                            <m:ctrlPr>
                              <a:rPr lang="vi-VN" i="1"/>
                            </m:ctrlPr>
                          </m:sSubPr>
                          <m:e>
                            <m:r>
                              <a:rPr lang="vi-VN" i="1"/>
                              <m:t>𝜃</m:t>
                            </m:r>
                          </m:e>
                          <m:sub>
                            <m:r>
                              <a:rPr lang="vi-VN" i="1"/>
                              <m:t>𝑣</m:t>
                            </m:r>
                          </m:sub>
                        </m:sSub>
                      </m:sub>
                    </m:sSub>
                    <m:d>
                      <m:dPr>
                        <m:ctrlPr>
                          <a:rPr lang="vi-VN" i="1"/>
                        </m:ctrlPr>
                      </m:dPr>
                      <m:e>
                        <m:sSub>
                          <m:sSubPr>
                            <m:ctrlPr>
                              <a:rPr lang="vi-VN" i="1"/>
                            </m:ctrlPr>
                          </m:sSubPr>
                          <m:e>
                            <m:r>
                              <a:rPr lang="vi-VN" i="1"/>
                              <m:t>𝑠</m:t>
                            </m:r>
                          </m:e>
                          <m:sub>
                            <m:r>
                              <a:rPr lang="vi-VN" i="1"/>
                              <m:t>𝑖</m:t>
                            </m:r>
                          </m:sub>
                        </m:sSub>
                      </m:e>
                    </m:d>
                    <m:r>
                      <a:rPr lang="vi-VN"/>
                      <m:t>−</m:t>
                    </m:r>
                    <m:r>
                      <a:rPr lang="vi-VN" i="1"/>
                      <m:t>𝐿</m:t>
                    </m:r>
                    <m:d>
                      <m:dPr>
                        <m:ctrlPr>
                          <a:rPr lang="vi-VN" i="1"/>
                        </m:ctrlPr>
                      </m:dPr>
                      <m:e>
                        <m:sSub>
                          <m:sSubPr>
                            <m:ctrlPr>
                              <a:rPr lang="vi-VN" i="1"/>
                            </m:ctrlPr>
                          </m:sSubPr>
                          <m:e>
                            <m:r>
                              <a:rPr lang="vi-VN" i="1"/>
                              <m:t>𝜋</m:t>
                            </m:r>
                          </m:e>
                          <m:sub>
                            <m:r>
                              <a:rPr lang="vi-VN" i="1"/>
                              <m:t>𝑖</m:t>
                            </m:r>
                          </m:sub>
                        </m:sSub>
                      </m:e>
                    </m:d>
                    <m:r>
                      <a:rPr lang="vi-VN"/>
                      <m:t>‖</m:t>
                    </m:r>
                    <m:sSup>
                      <m:sSupPr>
                        <m:ctrlPr>
                          <a:rPr lang="vi-VN"/>
                        </m:ctrlPr>
                      </m:sSupPr>
                      <m:e>
                        <m:r>
                          <a:rPr lang="vi-VN"/>
                          <m:t>​</m:t>
                        </m:r>
                      </m:e>
                      <m:sup>
                        <m:r>
                          <a:rPr lang="vi-VN"/>
                          <m:t>2</m:t>
                        </m:r>
                      </m:sup>
                    </m:sSup>
                  </m:oMath>
                </a14:m>
                <a:r>
                  <a:rPr lang="vi-VN" dirty="0"/>
                  <a:t>, áp dụng cập nhật bất đồng bộ mini-batch theo cơ chế Actor-Critic (tương tự A3C). </a:t>
                </a:r>
              </a:p>
            </p:txBody>
          </p:sp>
        </mc:Choice>
        <mc:Fallback>
          <p:sp>
            <p:nvSpPr>
              <p:cNvPr id="7" name="TextBox 6">
                <a:extLst>
                  <a:ext uri="{FF2B5EF4-FFF2-40B4-BE49-F238E27FC236}">
                    <a16:creationId xmlns:a16="http://schemas.microsoft.com/office/drawing/2014/main" id="{61F5DCBE-C735-A83E-9450-7F0975B6961C}"/>
                  </a:ext>
                </a:extLst>
              </p:cNvPr>
              <p:cNvSpPr txBox="1">
                <a:spLocks noRot="1" noChangeAspect="1" noMove="1" noResize="1" noEditPoints="1" noAdjustHandles="1" noChangeArrowheads="1" noChangeShapeType="1" noTextEdit="1"/>
              </p:cNvSpPr>
              <p:nvPr/>
            </p:nvSpPr>
            <p:spPr>
              <a:xfrm>
                <a:off x="204578" y="995436"/>
                <a:ext cx="11514240" cy="4958217"/>
              </a:xfrm>
              <a:prstGeom prst="rect">
                <a:avLst/>
              </a:prstGeom>
              <a:blipFill>
                <a:blip r:embed="rId2"/>
                <a:stretch>
                  <a:fillRect l="-477" t="-614" r="-900" b="-6880"/>
                </a:stretch>
              </a:blipFill>
            </p:spPr>
            <p:txBody>
              <a:bodyPr/>
              <a:lstStyle/>
              <a:p>
                <a:r>
                  <a:rPr lang="vi-VN">
                    <a:noFill/>
                  </a:rPr>
                  <a:t> </a:t>
                </a:r>
              </a:p>
            </p:txBody>
          </p:sp>
        </mc:Fallback>
      </mc:AlternateContent>
    </p:spTree>
    <p:extLst>
      <p:ext uri="{BB962C8B-B14F-4D97-AF65-F5344CB8AC3E}">
        <p14:creationId xmlns:p14="http://schemas.microsoft.com/office/powerpoint/2010/main" val="2320083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AA3F4-0FAC-8C4D-DE6C-730A38AA7754}"/>
            </a:ext>
          </a:extLst>
        </p:cNvPr>
        <p:cNvGrpSpPr/>
        <p:nvPr/>
      </p:nvGrpSpPr>
      <p:grpSpPr>
        <a:xfrm>
          <a:off x="0" y="0"/>
          <a:ext cx="0" cy="0"/>
          <a:chOff x="0" y="0"/>
          <a:chExt cx="0" cy="0"/>
        </a:xfrm>
      </p:grpSpPr>
      <p:sp>
        <p:nvSpPr>
          <p:cNvPr id="312" name="TextShape 1">
            <a:extLst>
              <a:ext uri="{FF2B5EF4-FFF2-40B4-BE49-F238E27FC236}">
                <a16:creationId xmlns:a16="http://schemas.microsoft.com/office/drawing/2014/main" id="{7AD5F5E3-41BA-EA64-E98C-826826056BA5}"/>
              </a:ext>
            </a:extLst>
          </p:cNvPr>
          <p:cNvSpPr txBox="1"/>
          <p:nvPr/>
        </p:nvSpPr>
        <p:spPr>
          <a:xfrm>
            <a:off x="338760" y="1058760"/>
            <a:ext cx="11514240" cy="4908600"/>
          </a:xfrm>
          <a:prstGeom prst="rect">
            <a:avLst/>
          </a:prstGeom>
          <a:noFill/>
          <a:ln>
            <a:noFill/>
          </a:ln>
        </p:spPr>
        <p:txBody>
          <a:bodyPr lIns="90000" tIns="45000" rIns="90000" bIns="45000">
            <a:noAutofit/>
          </a:bodyPr>
          <a:lstStyle/>
          <a:p>
            <a:endParaRPr lang="en-US" sz="2800" b="0" strike="noStrike" spc="-1">
              <a:solidFill>
                <a:srgbClr val="000000"/>
              </a:solidFill>
              <a:latin typeface="Calibri"/>
            </a:endParaRPr>
          </a:p>
        </p:txBody>
      </p:sp>
      <p:sp>
        <p:nvSpPr>
          <p:cNvPr id="313" name="TextShape 2">
            <a:extLst>
              <a:ext uri="{FF2B5EF4-FFF2-40B4-BE49-F238E27FC236}">
                <a16:creationId xmlns:a16="http://schemas.microsoft.com/office/drawing/2014/main" id="{B61880E8-BA45-4392-36C0-C6CAACC82B5A}"/>
              </a:ext>
            </a:extLst>
          </p:cNvPr>
          <p:cNvSpPr txBox="1"/>
          <p:nvPr/>
        </p:nvSpPr>
        <p:spPr>
          <a:xfrm>
            <a:off x="338760" y="112680"/>
            <a:ext cx="1151424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
        <p:nvSpPr>
          <p:cNvPr id="3" name="TextBox 2">
            <a:extLst>
              <a:ext uri="{FF2B5EF4-FFF2-40B4-BE49-F238E27FC236}">
                <a16:creationId xmlns:a16="http://schemas.microsoft.com/office/drawing/2014/main" id="{43860CFF-4FC6-C269-CDC9-8D58E0375C66}"/>
              </a:ext>
            </a:extLst>
          </p:cNvPr>
          <p:cNvSpPr txBox="1"/>
          <p:nvPr/>
        </p:nvSpPr>
        <p:spPr>
          <a:xfrm>
            <a:off x="83808" y="95891"/>
            <a:ext cx="12024143" cy="461665"/>
          </a:xfrm>
          <a:prstGeom prst="rect">
            <a:avLst/>
          </a:prstGeom>
          <a:noFill/>
        </p:spPr>
        <p:txBody>
          <a:bodyPr wrap="square" rtlCol="0">
            <a:spAutoFit/>
          </a:bodyPr>
          <a:lstStyle/>
          <a:p>
            <a:r>
              <a:rPr lang="vi-VN" sz="2400" b="1" dirty="0">
                <a:solidFill>
                  <a:schemeClr val="bg1"/>
                </a:solidFill>
              </a:rPr>
              <a:t>Ba Chiến Lược Tìm Kiếm (Inference Strategies)</a:t>
            </a:r>
          </a:p>
        </p:txBody>
      </p:sp>
      <p:sp>
        <p:nvSpPr>
          <p:cNvPr id="7" name="TextBox 6">
            <a:extLst>
              <a:ext uri="{FF2B5EF4-FFF2-40B4-BE49-F238E27FC236}">
                <a16:creationId xmlns:a16="http://schemas.microsoft.com/office/drawing/2014/main" id="{AA5A3AA8-B065-2BE5-F983-B131D6372C34}"/>
              </a:ext>
            </a:extLst>
          </p:cNvPr>
          <p:cNvSpPr txBox="1"/>
          <p:nvPr/>
        </p:nvSpPr>
        <p:spPr>
          <a:xfrm>
            <a:off x="264963" y="1108229"/>
            <a:ext cx="10345528" cy="2308324"/>
          </a:xfrm>
          <a:prstGeom prst="rect">
            <a:avLst/>
          </a:prstGeom>
          <a:noFill/>
        </p:spPr>
        <p:txBody>
          <a:bodyPr wrap="square" rtlCol="0">
            <a:spAutoFit/>
          </a:bodyPr>
          <a:lstStyle/>
          <a:p>
            <a:r>
              <a:rPr lang="vi-VN" dirty="0"/>
              <a:t>Hệ thống RL cho phép giả lập quá trình tìm kiếm linh hoạt tại thời điểm test tùy theo nhu cầu thực tế:</a:t>
            </a:r>
          </a:p>
          <a:p>
            <a:pPr marL="285750" lvl="0" indent="-285750">
              <a:buFont typeface="Arial" panose="020B0604020202020204" pitchFamily="34" charset="0"/>
              <a:buChar char="•"/>
            </a:pPr>
            <a:r>
              <a:rPr lang="vi-VN" b="1" dirty="0"/>
              <a:t>Tham Lam (Greedy) - Tối ưu hóa Tốc độ:</a:t>
            </a:r>
            <a:r>
              <a:rPr lang="vi-VN" dirty="0"/>
              <a:t> Chọn node có xác suất cao nhất tại mỗi bước. Cực nhanh (0.01s cho TSP100) nhưng dễ mắc kẹt ở tối ưu cục bộ.</a:t>
            </a:r>
          </a:p>
          <a:p>
            <a:pPr marL="285750" lvl="0" indent="-285750">
              <a:buFont typeface="Arial" panose="020B0604020202020204" pitchFamily="34" charset="0"/>
              <a:buChar char="•"/>
            </a:pPr>
            <a:r>
              <a:rPr lang="vi-VN" b="1" dirty="0"/>
              <a:t>Lấy Mẫu (Sampling):</a:t>
            </a:r>
            <a:r>
              <a:rPr lang="vi-VN" dirty="0"/>
              <a:t> Lấy mẫu hàng loạt (vd: 1.28 triệu tours) và chọn giải pháp ngắn nhất. Dùng Softmax temperature để tăng đa dạng. Tính toán song song cực tốt.</a:t>
            </a:r>
          </a:p>
          <a:p>
            <a:pPr marL="285750" lvl="0" indent="-285750">
              <a:buFont typeface="Arial" panose="020B0604020202020204" pitchFamily="34" charset="0"/>
              <a:buChar char="•"/>
            </a:pPr>
            <a:r>
              <a:rPr lang="vi-VN" b="1" dirty="0"/>
              <a:t>Tìm Kiếm Chủ Động (Active Search) - Tối ưu hóa Chất lượng:</a:t>
            </a:r>
            <a:r>
              <a:rPr lang="vi-VN" dirty="0"/>
              <a:t> Quá trình tối ưu hóa liên tục trọng số ngay tại thời điểm Test. Khám phá sâu nhất cho không gian lớn.</a:t>
            </a:r>
          </a:p>
        </p:txBody>
      </p:sp>
    </p:spTree>
    <p:extLst>
      <p:ext uri="{BB962C8B-B14F-4D97-AF65-F5344CB8AC3E}">
        <p14:creationId xmlns:p14="http://schemas.microsoft.com/office/powerpoint/2010/main" val="2289801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34DCE-0D5F-8E8C-60F1-8AA5D4B8483C}"/>
            </a:ext>
          </a:extLst>
        </p:cNvPr>
        <p:cNvGrpSpPr/>
        <p:nvPr/>
      </p:nvGrpSpPr>
      <p:grpSpPr>
        <a:xfrm>
          <a:off x="0" y="0"/>
          <a:ext cx="0" cy="0"/>
          <a:chOff x="0" y="0"/>
          <a:chExt cx="0" cy="0"/>
        </a:xfrm>
      </p:grpSpPr>
      <p:sp>
        <p:nvSpPr>
          <p:cNvPr id="312" name="TextShape 1">
            <a:extLst>
              <a:ext uri="{FF2B5EF4-FFF2-40B4-BE49-F238E27FC236}">
                <a16:creationId xmlns:a16="http://schemas.microsoft.com/office/drawing/2014/main" id="{21E7B1DE-643D-5769-F6B7-86551B33515B}"/>
              </a:ext>
            </a:extLst>
          </p:cNvPr>
          <p:cNvSpPr txBox="1"/>
          <p:nvPr/>
        </p:nvSpPr>
        <p:spPr>
          <a:xfrm>
            <a:off x="338760" y="1058760"/>
            <a:ext cx="11514240" cy="4908600"/>
          </a:xfrm>
          <a:prstGeom prst="rect">
            <a:avLst/>
          </a:prstGeom>
          <a:noFill/>
          <a:ln>
            <a:noFill/>
          </a:ln>
        </p:spPr>
        <p:txBody>
          <a:bodyPr lIns="90000" tIns="45000" rIns="90000" bIns="45000">
            <a:noAutofit/>
          </a:bodyPr>
          <a:lstStyle/>
          <a:p>
            <a:endParaRPr lang="en-US" sz="2800" b="0" strike="noStrike" spc="-1">
              <a:solidFill>
                <a:srgbClr val="000000"/>
              </a:solidFill>
              <a:latin typeface="Calibri"/>
            </a:endParaRPr>
          </a:p>
        </p:txBody>
      </p:sp>
      <p:sp>
        <p:nvSpPr>
          <p:cNvPr id="313" name="TextShape 2">
            <a:extLst>
              <a:ext uri="{FF2B5EF4-FFF2-40B4-BE49-F238E27FC236}">
                <a16:creationId xmlns:a16="http://schemas.microsoft.com/office/drawing/2014/main" id="{73F6B1E7-DCAF-E499-4661-C924C8E954E5}"/>
              </a:ext>
            </a:extLst>
          </p:cNvPr>
          <p:cNvSpPr txBox="1"/>
          <p:nvPr/>
        </p:nvSpPr>
        <p:spPr>
          <a:xfrm>
            <a:off x="338760" y="112680"/>
            <a:ext cx="1151424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
        <p:nvSpPr>
          <p:cNvPr id="3" name="TextBox 2">
            <a:extLst>
              <a:ext uri="{FF2B5EF4-FFF2-40B4-BE49-F238E27FC236}">
                <a16:creationId xmlns:a16="http://schemas.microsoft.com/office/drawing/2014/main" id="{021E86D2-81DF-FC69-8628-26E793D1C78C}"/>
              </a:ext>
            </a:extLst>
          </p:cNvPr>
          <p:cNvSpPr txBox="1"/>
          <p:nvPr/>
        </p:nvSpPr>
        <p:spPr>
          <a:xfrm>
            <a:off x="83808" y="95891"/>
            <a:ext cx="12024143" cy="461665"/>
          </a:xfrm>
          <a:prstGeom prst="rect">
            <a:avLst/>
          </a:prstGeom>
          <a:noFill/>
        </p:spPr>
        <p:txBody>
          <a:bodyPr wrap="square" rtlCol="0">
            <a:spAutoFit/>
          </a:bodyPr>
          <a:lstStyle/>
          <a:p>
            <a:r>
              <a:rPr lang="vi-VN" sz="2400" b="1" dirty="0">
                <a:solidFill>
                  <a:schemeClr val="bg1"/>
                </a:solidFill>
              </a:rPr>
              <a:t>Active Search - Tối Ưu Hóa Trực Tiếp Trên Dữ Liệu Test</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740735B5-E925-023D-CDA8-7B75127B51AC}"/>
                  </a:ext>
                </a:extLst>
              </p:cNvPr>
              <p:cNvSpPr txBox="1"/>
              <p:nvPr/>
            </p:nvSpPr>
            <p:spPr>
              <a:xfrm>
                <a:off x="264963" y="1108229"/>
                <a:ext cx="10345528" cy="4658391"/>
              </a:xfrm>
              <a:prstGeom prst="rect">
                <a:avLst/>
              </a:prstGeom>
              <a:noFill/>
            </p:spPr>
            <p:txBody>
              <a:bodyPr wrap="square" rtlCol="0">
                <a:spAutoFit/>
              </a:bodyPr>
              <a:lstStyle/>
              <a:p>
                <a:r>
                  <a:rPr lang="vi-VN" dirty="0"/>
                  <a:t>Thay vì đóng băng trọng số sau khi train, Active Search tiếp tục dùng Policy Gradient để cập nhật trọng số của mạng nơ-ron trên chính bài toán test (test instance) duy nhất đó (Test-Time Parameter Update).</a:t>
                </a:r>
              </a:p>
              <a:p>
                <a:pPr marL="285750" lvl="0" indent="-285750">
                  <a:buFont typeface="Arial" panose="020B0604020202020204" pitchFamily="34" charset="0"/>
                  <a:buChar char="•"/>
                </a:pPr>
                <a:r>
                  <a:rPr lang="vi-VN" b="1" dirty="0"/>
                  <a:t>Đường cơ sở (Baseline):</a:t>
                </a:r>
                <a:r>
                  <a:rPr lang="vi-VN" dirty="0"/>
                  <a:t> Sử dụng đường trung bình động hàm mũ (EMA với ) thay vì mạng Critic, vì chỉ cần theo dõi quá trình trên một đồ thị duy nhất.</a:t>
                </a:r>
              </a:p>
              <a:p>
                <a:pPr marL="285750" lvl="0" indent="-285750">
                  <a:buFont typeface="Arial" panose="020B0604020202020204" pitchFamily="34" charset="0"/>
                  <a:buChar char="•"/>
                </a:pPr>
                <a:r>
                  <a:rPr lang="vi-VN" b="1" dirty="0"/>
                  <a:t>Tính linh hoạt:</a:t>
                </a:r>
                <a:r>
                  <a:rPr lang="vi-VN" dirty="0"/>
                  <a:t> Có thể áp dụng trên mô hình đã Pre-train hoặc huấn luyện mạng từ con số 0 (Scratch) hoàn toàn không phụ thuộc vào phân phối dữ liệu huấn luyện.</a:t>
                </a:r>
                <a:endParaRPr lang="en-US" dirty="0"/>
              </a:p>
              <a:p>
                <a:pPr marL="285750" lvl="0" indent="-285750">
                  <a:buFont typeface="Arial" panose="020B0604020202020204" pitchFamily="34" charset="0"/>
                  <a:buChar char="•"/>
                </a:pPr>
                <a:r>
                  <a:rPr lang="vi-VN" b="1" dirty="0"/>
                  <a:t>Lấy mẫu tour ứng viên:</a:t>
                </a:r>
                <a:r>
                  <a:rPr lang="vi-VN" dirty="0"/>
                  <a:t> Sinh ra </a:t>
                </a:r>
                <a14:m>
                  <m:oMath xmlns:m="http://schemas.openxmlformats.org/officeDocument/2006/math">
                    <m:r>
                      <a:rPr lang="vi-VN" i="1" dirty="0" smtClean="0">
                        <a:latin typeface="Cambria Math" panose="02040503050406030204" pitchFamily="18" charset="0"/>
                      </a:rPr>
                      <m:t>𝐵</m:t>
                    </m:r>
                  </m:oMath>
                </a14:m>
                <a:r>
                  <a:rPr lang="vi-VN" dirty="0"/>
                  <a:t> tour ứng viên </a:t>
                </a:r>
                <a14:m>
                  <m:oMath xmlns:m="http://schemas.openxmlformats.org/officeDocument/2006/math">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𝜋</m:t>
                        </m:r>
                      </m:e>
                      <m:sub>
                        <m:r>
                          <a:rPr lang="vi-VN" i="0" dirty="0" smtClean="0">
                            <a:latin typeface="Cambria Math" panose="02040503050406030204" pitchFamily="18" charset="0"/>
                          </a:rPr>
                          <m:t>1</m:t>
                        </m:r>
                      </m:sub>
                    </m:sSub>
                    <m:r>
                      <a:rPr lang="vi-VN" i="0" dirty="0" smtClean="0">
                        <a:latin typeface="Cambria Math" panose="02040503050406030204" pitchFamily="18" charset="0"/>
                      </a:rPr>
                      <m:t>,…,</m:t>
                    </m:r>
                    <m:sSub>
                      <m:sSubPr>
                        <m:ctrlPr>
                          <a:rPr lang="vi-VN" i="0" dirty="0" smtClean="0">
                            <a:latin typeface="Cambria Math" panose="02040503050406030204" pitchFamily="18" charset="0"/>
                          </a:rPr>
                        </m:ctrlPr>
                      </m:sSubPr>
                      <m:e>
                        <m:r>
                          <a:rPr lang="vi-VN" i="0" dirty="0" smtClean="0">
                            <a:latin typeface="Cambria Math" panose="02040503050406030204" pitchFamily="18" charset="0"/>
                          </a:rPr>
                          <m:t>𝜋</m:t>
                        </m:r>
                      </m:e>
                      <m:sub>
                        <m:r>
                          <a:rPr lang="vi-VN" i="0" dirty="0" smtClean="0">
                            <a:latin typeface="Cambria Math" panose="02040503050406030204" pitchFamily="18" charset="0"/>
                          </a:rPr>
                          <m:t>𝐵</m:t>
                        </m:r>
                      </m:sub>
                    </m:sSub>
                    <m:r>
                      <a:rPr lang="vi-VN" i="0" dirty="0" smtClean="0">
                        <a:latin typeface="Cambria Math" panose="02040503050406030204" pitchFamily="18" charset="0"/>
                      </a:rPr>
                      <m:t>∼</m:t>
                    </m:r>
                    <m:sSub>
                      <m:sSubPr>
                        <m:ctrlPr>
                          <a:rPr lang="vi-VN" i="0" dirty="0" smtClean="0">
                            <a:latin typeface="Cambria Math" panose="02040503050406030204" pitchFamily="18" charset="0"/>
                          </a:rPr>
                        </m:ctrlPr>
                      </m:sSubPr>
                      <m:e>
                        <m:r>
                          <a:rPr lang="vi-VN" i="0" dirty="0" smtClean="0">
                            <a:latin typeface="Cambria Math" panose="02040503050406030204" pitchFamily="18" charset="0"/>
                          </a:rPr>
                          <m:t>𝑝</m:t>
                        </m:r>
                      </m:e>
                      <m:sub>
                        <m:r>
                          <a:rPr lang="vi-VN" i="0" dirty="0" smtClean="0">
                            <a:latin typeface="Cambria Math" panose="02040503050406030204" pitchFamily="18" charset="0"/>
                          </a:rPr>
                          <m:t>𝜃</m:t>
                        </m:r>
                      </m:sub>
                    </m:sSub>
                    <m:d>
                      <m:dPr>
                        <m:ctrlPr>
                          <a:rPr lang="vi-VN" i="0" dirty="0" smtClean="0">
                            <a:latin typeface="Cambria Math" panose="02040503050406030204" pitchFamily="18" charset="0"/>
                          </a:rPr>
                        </m:ctrlPr>
                      </m:dPr>
                      <m:e>
                        <m:r>
                          <a:rPr lang="vi-VN" i="0" dirty="0" smtClean="0">
                            <a:latin typeface="Cambria Math" panose="02040503050406030204" pitchFamily="18" charset="0"/>
                          </a:rPr>
                          <m:t>⋅|</m:t>
                        </m:r>
                        <m:r>
                          <a:rPr lang="vi-VN" i="0" dirty="0" smtClean="0">
                            <a:latin typeface="Cambria Math" panose="02040503050406030204" pitchFamily="18" charset="0"/>
                          </a:rPr>
                          <m:t>𝑠</m:t>
                        </m:r>
                      </m:e>
                    </m:d>
                  </m:oMath>
                </a14:m>
                <a:r>
                  <a:rPr lang="vi-VN" dirty="0"/>
                  <a:t>từ cùng một đồ thị </a:t>
                </a:r>
                <a14:m>
                  <m:oMath xmlns:m="http://schemas.openxmlformats.org/officeDocument/2006/math">
                    <m:r>
                      <a:rPr lang="vi-VN" i="1" dirty="0" smtClean="0">
                        <a:latin typeface="Cambria Math" panose="02040503050406030204" pitchFamily="18" charset="0"/>
                      </a:rPr>
                      <m:t>𝑠</m:t>
                    </m:r>
                  </m:oMath>
                </a14:m>
                <a:r>
                  <a:rPr lang="vi-VN" dirty="0"/>
                  <a:t>.</a:t>
                </a:r>
                <a:endParaRPr lang="en-US" dirty="0"/>
              </a:p>
              <a:p>
                <a:pPr marL="285750" lvl="0" indent="-285750">
                  <a:buFont typeface="Arial" panose="020B0604020202020204" pitchFamily="34" charset="0"/>
                  <a:buChar char="•"/>
                </a:pPr>
                <a:r>
                  <a:rPr lang="vi-VN" b="1" dirty="0"/>
                  <a:t>Cập nhật kỷ lục:</a:t>
                </a:r>
                <a:r>
                  <a:rPr lang="vi-VN" dirty="0"/>
                  <a:t> Tìm tour ngắn nhất </a:t>
                </a:r>
                <a14:m>
                  <m:oMath xmlns:m="http://schemas.openxmlformats.org/officeDocument/2006/math">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𝜋</m:t>
                        </m:r>
                      </m:e>
                      <m:sub>
                        <m:r>
                          <a:rPr lang="vi-VN" i="1" dirty="0" smtClean="0">
                            <a:latin typeface="Cambria Math" panose="02040503050406030204" pitchFamily="18" charset="0"/>
                          </a:rPr>
                          <m:t>𝑗</m:t>
                        </m:r>
                      </m:sub>
                    </m:sSub>
                  </m:oMath>
                </a14:m>
                <a:r>
                  <a:rPr lang="vi-VN" dirty="0"/>
                  <a:t> trong batch hiện tại; nếu </a:t>
                </a:r>
                <a14:m>
                  <m:oMath xmlns:m="http://schemas.openxmlformats.org/officeDocument/2006/math">
                    <m:r>
                      <a:rPr lang="vi-VN" i="1" dirty="0" smtClean="0">
                        <a:latin typeface="Cambria Math" panose="02040503050406030204" pitchFamily="18" charset="0"/>
                      </a:rPr>
                      <m:t>𝐿</m:t>
                    </m:r>
                    <m:d>
                      <m:dPr>
                        <m:ctrlPr>
                          <a:rPr lang="vi-VN" i="1" dirty="0" smtClean="0">
                            <a:latin typeface="Cambria Math" panose="02040503050406030204" pitchFamily="18" charset="0"/>
                          </a:rPr>
                        </m:ctrlPr>
                      </m:dPr>
                      <m:e>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𝜋</m:t>
                            </m:r>
                          </m:e>
                          <m:sub>
                            <m:r>
                              <a:rPr lang="vi-VN" i="1" dirty="0" smtClean="0">
                                <a:latin typeface="Cambria Math" panose="02040503050406030204" pitchFamily="18" charset="0"/>
                              </a:rPr>
                              <m:t>𝑗</m:t>
                            </m:r>
                          </m:sub>
                        </m:sSub>
                        <m:r>
                          <a:rPr lang="vi-VN" i="0" dirty="0" smtClean="0">
                            <a:latin typeface="Cambria Math" panose="02040503050406030204" pitchFamily="18" charset="0"/>
                          </a:rPr>
                          <m:t>|</m:t>
                        </m:r>
                        <m:r>
                          <a:rPr lang="vi-VN" i="1" dirty="0" smtClean="0">
                            <a:latin typeface="Cambria Math" panose="02040503050406030204" pitchFamily="18" charset="0"/>
                          </a:rPr>
                          <m:t>𝑠</m:t>
                        </m:r>
                      </m:e>
                    </m:d>
                    <m:r>
                      <a:rPr lang="vi-VN" i="0" dirty="0" smtClean="0">
                        <a:latin typeface="Cambria Math" panose="02040503050406030204" pitchFamily="18" charset="0"/>
                      </a:rPr>
                      <m:t>&lt;</m:t>
                    </m:r>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𝐿</m:t>
                        </m:r>
                      </m:e>
                      <m:sub>
                        <m:r>
                          <a:rPr lang="vi-VN" i="1" dirty="0" smtClean="0">
                            <a:latin typeface="Cambria Math" panose="02040503050406030204" pitchFamily="18" charset="0"/>
                          </a:rPr>
                          <m:t>𝜋</m:t>
                        </m:r>
                      </m:sub>
                    </m:sSub>
                  </m:oMath>
                </a14:m>
                <a:r>
                  <a:rPr lang="vi-VN" dirty="0"/>
                  <a:t>, gán </a:t>
                </a:r>
                <a14:m>
                  <m:oMath xmlns:m="http://schemas.openxmlformats.org/officeDocument/2006/math">
                    <m:r>
                      <a:rPr lang="vi-VN" i="1" dirty="0" smtClean="0">
                        <a:latin typeface="Cambria Math" panose="02040503050406030204" pitchFamily="18" charset="0"/>
                      </a:rPr>
                      <m:t>𝜋</m:t>
                    </m:r>
                    <m:r>
                      <a:rPr lang="vi-VN" i="0" dirty="0" smtClean="0">
                        <a:latin typeface="Cambria Math" panose="02040503050406030204" pitchFamily="18" charset="0"/>
                      </a:rPr>
                      <m:t>←</m:t>
                    </m:r>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𝜋</m:t>
                        </m:r>
                      </m:e>
                      <m:sub>
                        <m:r>
                          <a:rPr lang="vi-VN" i="1" dirty="0" smtClean="0">
                            <a:latin typeface="Cambria Math" panose="02040503050406030204" pitchFamily="18" charset="0"/>
                          </a:rPr>
                          <m:t>𝑗</m:t>
                        </m:r>
                      </m:sub>
                    </m:sSub>
                  </m:oMath>
                </a14:m>
                <a:r>
                  <a:rPr lang="vi-VN" dirty="0"/>
                  <a:t> và </a:t>
                </a:r>
                <a14:m>
                  <m:oMath xmlns:m="http://schemas.openxmlformats.org/officeDocument/2006/math">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𝐿</m:t>
                        </m:r>
                      </m:e>
                      <m:sub>
                        <m:r>
                          <a:rPr lang="vi-VN" i="1" dirty="0" smtClean="0">
                            <a:latin typeface="Cambria Math" panose="02040503050406030204" pitchFamily="18" charset="0"/>
                          </a:rPr>
                          <m:t>𝜋</m:t>
                        </m:r>
                      </m:sub>
                    </m:sSub>
                    <m:r>
                      <a:rPr lang="vi-VN" i="0" dirty="0" smtClean="0">
                        <a:latin typeface="Cambria Math" panose="02040503050406030204" pitchFamily="18" charset="0"/>
                      </a:rPr>
                      <m:t>←</m:t>
                    </m:r>
                    <m:r>
                      <a:rPr lang="vi-VN" i="1" dirty="0" smtClean="0">
                        <a:latin typeface="Cambria Math" panose="02040503050406030204" pitchFamily="18" charset="0"/>
                      </a:rPr>
                      <m:t>𝐿</m:t>
                    </m:r>
                    <m:d>
                      <m:dPr>
                        <m:ctrlPr>
                          <a:rPr lang="vi-VN" i="1" dirty="0" smtClean="0">
                            <a:latin typeface="Cambria Math" panose="02040503050406030204" pitchFamily="18" charset="0"/>
                          </a:rPr>
                        </m:ctrlPr>
                      </m:dPr>
                      <m:e>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𝜋</m:t>
                            </m:r>
                          </m:e>
                          <m:sub>
                            <m:r>
                              <a:rPr lang="vi-VN" i="1" dirty="0" smtClean="0">
                                <a:latin typeface="Cambria Math" panose="02040503050406030204" pitchFamily="18" charset="0"/>
                              </a:rPr>
                              <m:t>𝑗</m:t>
                            </m:r>
                          </m:sub>
                        </m:sSub>
                        <m:r>
                          <a:rPr lang="vi-VN" i="0" dirty="0" smtClean="0">
                            <a:latin typeface="Cambria Math" panose="02040503050406030204" pitchFamily="18" charset="0"/>
                          </a:rPr>
                          <m:t>|</m:t>
                        </m:r>
                        <m:r>
                          <a:rPr lang="vi-VN" i="1" dirty="0" smtClean="0">
                            <a:latin typeface="Cambria Math" panose="02040503050406030204" pitchFamily="18" charset="0"/>
                          </a:rPr>
                          <m:t>𝑠</m:t>
                        </m:r>
                      </m:e>
                    </m:d>
                    <m:r>
                      <a:rPr lang="vi-VN" i="0" dirty="0" smtClean="0">
                        <a:latin typeface="Cambria Math" panose="02040503050406030204" pitchFamily="18" charset="0"/>
                      </a:rPr>
                      <m:t>.</m:t>
                    </m:r>
                  </m:oMath>
                </a14:m>
                <a:endParaRPr lang="en-US" dirty="0"/>
              </a:p>
              <a:p>
                <a:pPr marL="285750" lvl="0" indent="-285750">
                  <a:buFont typeface="Arial" panose="020B0604020202020204" pitchFamily="34" charset="0"/>
                  <a:buChar char="•"/>
                </a:pPr>
                <a:r>
                  <a:rPr lang="vi-VN" b="1" dirty="0"/>
                  <a:t>Tính Gradient:</a:t>
                </a:r>
                <a:r>
                  <a:rPr lang="vi-VN" dirty="0"/>
                  <a:t> </a:t>
                </a:r>
                <a14:m>
                  <m:oMath xmlns:m="http://schemas.openxmlformats.org/officeDocument/2006/math">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𝑔</m:t>
                        </m:r>
                      </m:e>
                      <m:sub>
                        <m:r>
                          <a:rPr lang="vi-VN" i="1" dirty="0" smtClean="0">
                            <a:latin typeface="Cambria Math" panose="02040503050406030204" pitchFamily="18" charset="0"/>
                          </a:rPr>
                          <m:t>𝜃</m:t>
                        </m:r>
                      </m:sub>
                    </m:sSub>
                    <m:r>
                      <a:rPr lang="vi-VN" i="0" dirty="0" smtClean="0">
                        <a:latin typeface="Cambria Math" panose="02040503050406030204" pitchFamily="18" charset="0"/>
                      </a:rPr>
                      <m:t>=</m:t>
                    </m:r>
                    <m:f>
                      <m:fPr>
                        <m:ctrlPr>
                          <a:rPr lang="vi-VN" i="0" dirty="0" smtClean="0">
                            <a:latin typeface="Cambria Math" panose="02040503050406030204" pitchFamily="18" charset="0"/>
                          </a:rPr>
                        </m:ctrlPr>
                      </m:fPr>
                      <m:num>
                        <m:r>
                          <a:rPr lang="vi-VN" i="0" dirty="0" smtClean="0">
                            <a:latin typeface="Cambria Math" panose="02040503050406030204" pitchFamily="18" charset="0"/>
                          </a:rPr>
                          <m:t>1</m:t>
                        </m:r>
                      </m:num>
                      <m:den>
                        <m:r>
                          <a:rPr lang="vi-VN" i="1" dirty="0" smtClean="0">
                            <a:latin typeface="Cambria Math" panose="02040503050406030204" pitchFamily="18" charset="0"/>
                          </a:rPr>
                          <m:t>𝐵</m:t>
                        </m:r>
                      </m:den>
                    </m:f>
                    <m:nary>
                      <m:naryPr>
                        <m:chr m:val="∑"/>
                        <m:limLoc m:val="undOvr"/>
                        <m:ctrlPr>
                          <a:rPr lang="vi-VN" i="1" dirty="0" smtClean="0">
                            <a:latin typeface="Cambria Math" panose="02040503050406030204" pitchFamily="18" charset="0"/>
                          </a:rPr>
                        </m:ctrlPr>
                      </m:naryPr>
                      <m:sub>
                        <m:r>
                          <a:rPr lang="vi-VN" i="1" dirty="0" smtClean="0">
                            <a:latin typeface="Cambria Math" panose="02040503050406030204" pitchFamily="18" charset="0"/>
                          </a:rPr>
                          <m:t>𝑖</m:t>
                        </m:r>
                        <m:r>
                          <a:rPr lang="vi-VN" i="0" dirty="0" smtClean="0">
                            <a:latin typeface="Cambria Math" panose="02040503050406030204" pitchFamily="18" charset="0"/>
                          </a:rPr>
                          <m:t>=1</m:t>
                        </m:r>
                      </m:sub>
                      <m:sup>
                        <m:r>
                          <a:rPr lang="vi-VN" i="1" dirty="0" smtClean="0">
                            <a:latin typeface="Cambria Math" panose="02040503050406030204" pitchFamily="18" charset="0"/>
                          </a:rPr>
                          <m:t>𝐵</m:t>
                        </m:r>
                      </m:sup>
                      <m:e>
                        <m:d>
                          <m:dPr>
                            <m:ctrlPr>
                              <a:rPr lang="vi-VN" i="1" dirty="0" smtClean="0">
                                <a:latin typeface="Cambria Math" panose="02040503050406030204" pitchFamily="18" charset="0"/>
                              </a:rPr>
                            </m:ctrlPr>
                          </m:dPr>
                          <m:e>
                            <m:r>
                              <a:rPr lang="vi-VN" i="1" dirty="0" smtClean="0">
                                <a:latin typeface="Cambria Math" panose="02040503050406030204" pitchFamily="18" charset="0"/>
                              </a:rPr>
                              <m:t>𝐿</m:t>
                            </m:r>
                            <m:d>
                              <m:dPr>
                                <m:ctrlPr>
                                  <a:rPr lang="vi-VN" i="1" dirty="0" smtClean="0">
                                    <a:latin typeface="Cambria Math" panose="02040503050406030204" pitchFamily="18" charset="0"/>
                                  </a:rPr>
                                </m:ctrlPr>
                              </m:dPr>
                              <m:e>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𝜋</m:t>
                                    </m:r>
                                  </m:e>
                                  <m:sub>
                                    <m:r>
                                      <a:rPr lang="vi-VN" i="1" dirty="0" smtClean="0">
                                        <a:latin typeface="Cambria Math" panose="02040503050406030204" pitchFamily="18" charset="0"/>
                                      </a:rPr>
                                      <m:t>𝑖</m:t>
                                    </m:r>
                                  </m:sub>
                                </m:sSub>
                                <m:r>
                                  <a:rPr lang="vi-VN" i="0" dirty="0" smtClean="0">
                                    <a:latin typeface="Cambria Math" panose="02040503050406030204" pitchFamily="18" charset="0"/>
                                  </a:rPr>
                                  <m:t>|</m:t>
                                </m:r>
                                <m:r>
                                  <a:rPr lang="vi-VN" i="1" dirty="0" smtClean="0">
                                    <a:latin typeface="Cambria Math" panose="02040503050406030204" pitchFamily="18" charset="0"/>
                                  </a:rPr>
                                  <m:t>𝑠</m:t>
                                </m:r>
                              </m:e>
                            </m:d>
                            <m:r>
                              <a:rPr lang="vi-VN" i="0" dirty="0" smtClean="0">
                                <a:latin typeface="Cambria Math" panose="02040503050406030204" pitchFamily="18" charset="0"/>
                              </a:rPr>
                              <m:t>−</m:t>
                            </m:r>
                            <m:r>
                              <a:rPr lang="vi-VN" i="1" dirty="0" smtClean="0">
                                <a:latin typeface="Cambria Math" panose="02040503050406030204" pitchFamily="18" charset="0"/>
                              </a:rPr>
                              <m:t>𝑏</m:t>
                            </m:r>
                          </m:e>
                        </m:d>
                      </m:e>
                    </m:nary>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m:t>
                        </m:r>
                      </m:e>
                      <m:sub>
                        <m:r>
                          <a:rPr lang="vi-VN" i="1" dirty="0" smtClean="0">
                            <a:latin typeface="Cambria Math" panose="02040503050406030204" pitchFamily="18" charset="0"/>
                          </a:rPr>
                          <m:t>𝜃</m:t>
                        </m:r>
                      </m:sub>
                    </m:sSub>
                    <m:sSub>
                      <m:sSubPr>
                        <m:ctrlPr>
                          <a:rPr lang="vi-VN" i="1" dirty="0" smtClean="0">
                            <a:latin typeface="Cambria Math" panose="02040503050406030204" pitchFamily="18" charset="0"/>
                          </a:rPr>
                        </m:ctrlPr>
                      </m:sSubPr>
                      <m:e>
                        <m:func>
                          <m:funcPr>
                            <m:ctrlPr>
                              <a:rPr lang="vi-VN" i="0" dirty="0" smtClean="0">
                                <a:latin typeface="Cambria Math" panose="02040503050406030204" pitchFamily="18" charset="0"/>
                              </a:rPr>
                            </m:ctrlPr>
                          </m:funcPr>
                          <m:fName>
                            <m:r>
                              <m:rPr>
                                <m:sty m:val="p"/>
                              </m:rPr>
                              <a:rPr lang="vi-VN" i="0" dirty="0" smtClean="0">
                                <a:latin typeface="Cambria Math" panose="02040503050406030204" pitchFamily="18" charset="0"/>
                              </a:rPr>
                              <m:t>log</m:t>
                            </m:r>
                          </m:fName>
                          <m:e>
                            <m:r>
                              <a:rPr lang="vi-VN" i="1" dirty="0" smtClean="0">
                                <a:latin typeface="Cambria Math" panose="02040503050406030204" pitchFamily="18" charset="0"/>
                              </a:rPr>
                              <m:t>𝑝</m:t>
                            </m:r>
                          </m:e>
                        </m:func>
                      </m:e>
                      <m:sub>
                        <m:r>
                          <a:rPr lang="vi-VN" i="1" dirty="0" smtClean="0">
                            <a:latin typeface="Cambria Math" panose="02040503050406030204" pitchFamily="18" charset="0"/>
                          </a:rPr>
                          <m:t>𝜃</m:t>
                        </m:r>
                      </m:sub>
                    </m:sSub>
                    <m:d>
                      <m:dPr>
                        <m:ctrlPr>
                          <a:rPr lang="vi-VN" i="1" dirty="0" smtClean="0">
                            <a:latin typeface="Cambria Math" panose="02040503050406030204" pitchFamily="18" charset="0"/>
                          </a:rPr>
                        </m:ctrlPr>
                      </m:dPr>
                      <m:e>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𝜋</m:t>
                            </m:r>
                          </m:e>
                          <m:sub>
                            <m:r>
                              <a:rPr lang="vi-VN" i="1" dirty="0" smtClean="0">
                                <a:latin typeface="Cambria Math" panose="02040503050406030204" pitchFamily="18" charset="0"/>
                              </a:rPr>
                              <m:t>𝑖</m:t>
                            </m:r>
                          </m:sub>
                        </m:sSub>
                        <m:r>
                          <a:rPr lang="vi-VN" i="0" dirty="0" smtClean="0">
                            <a:latin typeface="Cambria Math" panose="02040503050406030204" pitchFamily="18" charset="0"/>
                          </a:rPr>
                          <m:t>|</m:t>
                        </m:r>
                        <m:r>
                          <a:rPr lang="vi-VN" i="1" dirty="0" smtClean="0">
                            <a:latin typeface="Cambria Math" panose="02040503050406030204" pitchFamily="18" charset="0"/>
                          </a:rPr>
                          <m:t>𝑠</m:t>
                        </m:r>
                      </m:e>
                    </m:d>
                  </m:oMath>
                </a14:m>
                <a:r>
                  <a:rPr lang="vi-VN" dirty="0"/>
                  <a:t> </a:t>
                </a:r>
                <a:r>
                  <a:rPr lang="vi-VN" i="1" dirty="0"/>
                  <a:t>(Active Search dùng đường trung bình động lũy thừa (EMA) </a:t>
                </a:r>
                <a14:m>
                  <m:oMath xmlns:m="http://schemas.openxmlformats.org/officeDocument/2006/math">
                    <m:r>
                      <a:rPr lang="vi-VN" i="1" dirty="0" smtClean="0">
                        <a:latin typeface="Cambria Math" panose="02040503050406030204" pitchFamily="18" charset="0"/>
                      </a:rPr>
                      <m:t>𝑏</m:t>
                    </m:r>
                  </m:oMath>
                </a14:m>
                <a:r>
                  <a:rPr lang="vi-VN" i="1" dirty="0"/>
                  <a:t> làm baseline thay cho mạng Critic vì chỉ tối ưu trên 1 đồ thị duy nhất).</a:t>
                </a:r>
                <a:endParaRPr lang="en-US" i="1" dirty="0"/>
              </a:p>
              <a:p>
                <a:pPr marL="285750" lvl="0" indent="-285750">
                  <a:buFont typeface="Arial" panose="020B0604020202020204" pitchFamily="34" charset="0"/>
                  <a:buChar char="•"/>
                </a:pPr>
                <a:r>
                  <a:rPr lang="vi-VN" b="1" dirty="0"/>
                  <a:t>Cập nhật tham số &amp; Baseline:</a:t>
                </a:r>
                <a:endParaRPr lang="vi-VN" dirty="0"/>
              </a:p>
              <a:p>
                <a:pPr marL="1200150" lvl="2" indent="-285750">
                  <a:buFont typeface="Arial" panose="020B0604020202020204" pitchFamily="34" charset="0"/>
                  <a:buChar char="•"/>
                </a:pPr>
                <a:r>
                  <a:rPr lang="vi-VN" dirty="0"/>
                  <a:t>Tinh chỉnh trọng số </a:t>
                </a:r>
                <a14:m>
                  <m:oMath xmlns:m="http://schemas.openxmlformats.org/officeDocument/2006/math">
                    <m:r>
                      <a:rPr lang="vi-VN" i="1" dirty="0" smtClean="0">
                        <a:latin typeface="Cambria Math" panose="02040503050406030204" pitchFamily="18" charset="0"/>
                      </a:rPr>
                      <m:t>𝜃</m:t>
                    </m:r>
                    <m:r>
                      <a:rPr lang="vi-VN" i="0" dirty="0" smtClean="0">
                        <a:latin typeface="Cambria Math" panose="02040503050406030204" pitchFamily="18" charset="0"/>
                      </a:rPr>
                      <m:t>←</m:t>
                    </m:r>
                    <m:r>
                      <m:rPr>
                        <m:nor/>
                      </m:rPr>
                      <a:rPr lang="vi-VN" i="0" dirty="0" smtClean="0">
                        <a:latin typeface="Cambria Math" panose="02040503050406030204" pitchFamily="18" charset="0"/>
                      </a:rPr>
                      <m:t>ADAM</m:t>
                    </m:r>
                    <m:d>
                      <m:dPr>
                        <m:ctrlPr>
                          <a:rPr lang="vi-VN" i="1" dirty="0" smtClean="0">
                            <a:latin typeface="Cambria Math" panose="02040503050406030204" pitchFamily="18" charset="0"/>
                          </a:rPr>
                        </m:ctrlPr>
                      </m:dPr>
                      <m:e>
                        <m:r>
                          <a:rPr lang="vi-VN" i="1" dirty="0" smtClean="0">
                            <a:latin typeface="Cambria Math" panose="02040503050406030204" pitchFamily="18" charset="0"/>
                          </a:rPr>
                          <m:t>𝜃</m:t>
                        </m:r>
                        <m:r>
                          <a:rPr lang="vi-VN" i="0" dirty="0" smtClean="0">
                            <a:latin typeface="Cambria Math" panose="02040503050406030204" pitchFamily="18" charset="0"/>
                          </a:rPr>
                          <m:t>,</m:t>
                        </m:r>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𝑔</m:t>
                            </m:r>
                          </m:e>
                          <m:sub>
                            <m:r>
                              <a:rPr lang="vi-VN" i="1" dirty="0" smtClean="0">
                                <a:latin typeface="Cambria Math" panose="02040503050406030204" pitchFamily="18" charset="0"/>
                              </a:rPr>
                              <m:t>𝜃</m:t>
                            </m:r>
                          </m:sub>
                        </m:sSub>
                      </m:e>
                    </m:d>
                    <m:r>
                      <a:rPr lang="vi-VN" i="0" dirty="0" smtClean="0">
                        <a:latin typeface="Cambria Math" panose="02040503050406030204" pitchFamily="18" charset="0"/>
                      </a:rPr>
                      <m:t>.</m:t>
                    </m:r>
                  </m:oMath>
                </a14:m>
                <a:endParaRPr lang="vi-VN" dirty="0"/>
              </a:p>
              <a:p>
                <a:pPr marL="1200150" lvl="2" indent="-285750">
                  <a:buFont typeface="Arial" panose="020B0604020202020204" pitchFamily="34" charset="0"/>
                  <a:buChar char="•"/>
                </a:pPr>
                <a:r>
                  <a:rPr lang="vi-VN" dirty="0"/>
                  <a:t>Cập nhật baseline: </a:t>
                </a:r>
                <a14:m>
                  <m:oMath xmlns:m="http://schemas.openxmlformats.org/officeDocument/2006/math">
                    <m:r>
                      <a:rPr lang="vi-VN" i="1" dirty="0" smtClean="0">
                        <a:latin typeface="Cambria Math" panose="02040503050406030204" pitchFamily="18" charset="0"/>
                      </a:rPr>
                      <m:t>𝑏</m:t>
                    </m:r>
                    <m:r>
                      <a:rPr lang="vi-VN" i="0" dirty="0" smtClean="0">
                        <a:latin typeface="Cambria Math" panose="02040503050406030204" pitchFamily="18" charset="0"/>
                      </a:rPr>
                      <m:t>←</m:t>
                    </m:r>
                    <m:r>
                      <a:rPr lang="vi-VN" i="1" dirty="0" smtClean="0">
                        <a:latin typeface="Cambria Math" panose="02040503050406030204" pitchFamily="18" charset="0"/>
                      </a:rPr>
                      <m:t>𝛼</m:t>
                    </m:r>
                    <m:r>
                      <a:rPr lang="vi-VN" i="1" dirty="0" smtClean="0">
                        <a:latin typeface="Cambria Math" panose="02040503050406030204" pitchFamily="18" charset="0"/>
                      </a:rPr>
                      <m:t>𝑏</m:t>
                    </m:r>
                    <m:r>
                      <a:rPr lang="vi-VN" i="0" dirty="0" smtClean="0">
                        <a:latin typeface="Cambria Math" panose="02040503050406030204" pitchFamily="18" charset="0"/>
                      </a:rPr>
                      <m:t>+</m:t>
                    </m:r>
                    <m:d>
                      <m:dPr>
                        <m:ctrlPr>
                          <a:rPr lang="vi-VN" i="0" dirty="0" smtClean="0">
                            <a:latin typeface="Cambria Math" panose="02040503050406030204" pitchFamily="18" charset="0"/>
                          </a:rPr>
                        </m:ctrlPr>
                      </m:dPr>
                      <m:e>
                        <m:r>
                          <a:rPr lang="vi-VN" i="0" dirty="0" smtClean="0">
                            <a:latin typeface="Cambria Math" panose="02040503050406030204" pitchFamily="18" charset="0"/>
                          </a:rPr>
                          <m:t>1−</m:t>
                        </m:r>
                        <m:r>
                          <a:rPr lang="vi-VN" i="1" dirty="0" smtClean="0">
                            <a:latin typeface="Cambria Math" panose="02040503050406030204" pitchFamily="18" charset="0"/>
                          </a:rPr>
                          <m:t>𝛼</m:t>
                        </m:r>
                      </m:e>
                    </m:d>
                    <m:d>
                      <m:dPr>
                        <m:ctrlPr>
                          <a:rPr lang="vi-VN" i="1" dirty="0" smtClean="0">
                            <a:latin typeface="Cambria Math" panose="02040503050406030204" pitchFamily="18" charset="0"/>
                          </a:rPr>
                        </m:ctrlPr>
                      </m:dPr>
                      <m:e>
                        <m:f>
                          <m:fPr>
                            <m:ctrlPr>
                              <a:rPr lang="vi-VN" i="0" dirty="0" smtClean="0">
                                <a:latin typeface="Cambria Math" panose="02040503050406030204" pitchFamily="18" charset="0"/>
                              </a:rPr>
                            </m:ctrlPr>
                          </m:fPr>
                          <m:num>
                            <m:r>
                              <a:rPr lang="vi-VN" i="0" dirty="0" smtClean="0">
                                <a:latin typeface="Cambria Math" panose="02040503050406030204" pitchFamily="18" charset="0"/>
                              </a:rPr>
                              <m:t>1</m:t>
                            </m:r>
                          </m:num>
                          <m:den>
                            <m:r>
                              <a:rPr lang="vi-VN" i="1" dirty="0" smtClean="0">
                                <a:latin typeface="Cambria Math" panose="02040503050406030204" pitchFamily="18" charset="0"/>
                              </a:rPr>
                              <m:t>𝐵</m:t>
                            </m:r>
                          </m:den>
                        </m:f>
                        <m:nary>
                          <m:naryPr>
                            <m:chr m:val="∑"/>
                            <m:limLoc m:val="undOvr"/>
                            <m:ctrlPr>
                              <a:rPr lang="vi-VN" i="1" dirty="0" smtClean="0">
                                <a:latin typeface="Cambria Math" panose="02040503050406030204" pitchFamily="18" charset="0"/>
                              </a:rPr>
                            </m:ctrlPr>
                          </m:naryPr>
                          <m:sub>
                            <m:r>
                              <a:rPr lang="vi-VN" i="1" dirty="0" smtClean="0">
                                <a:latin typeface="Cambria Math" panose="02040503050406030204" pitchFamily="18" charset="0"/>
                              </a:rPr>
                              <m:t>𝑖</m:t>
                            </m:r>
                            <m:r>
                              <a:rPr lang="vi-VN" i="0" dirty="0" smtClean="0">
                                <a:latin typeface="Cambria Math" panose="02040503050406030204" pitchFamily="18" charset="0"/>
                              </a:rPr>
                              <m:t>=1</m:t>
                            </m:r>
                          </m:sub>
                          <m:sup>
                            <m:r>
                              <a:rPr lang="vi-VN" i="1" dirty="0" smtClean="0">
                                <a:latin typeface="Cambria Math" panose="02040503050406030204" pitchFamily="18" charset="0"/>
                              </a:rPr>
                              <m:t>𝐵</m:t>
                            </m:r>
                          </m:sup>
                          <m:e>
                            <m:r>
                              <a:rPr lang="vi-VN" i="1" dirty="0" smtClean="0">
                                <a:latin typeface="Cambria Math" panose="02040503050406030204" pitchFamily="18" charset="0"/>
                              </a:rPr>
                              <m:t>𝐿</m:t>
                            </m:r>
                          </m:e>
                        </m:nary>
                        <m:d>
                          <m:dPr>
                            <m:ctrlPr>
                              <a:rPr lang="vi-VN" i="1" dirty="0" smtClean="0">
                                <a:latin typeface="Cambria Math" panose="02040503050406030204" pitchFamily="18" charset="0"/>
                              </a:rPr>
                            </m:ctrlPr>
                          </m:dPr>
                          <m:e>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𝜋</m:t>
                                </m:r>
                              </m:e>
                              <m:sub>
                                <m:r>
                                  <a:rPr lang="vi-VN" i="1" dirty="0" smtClean="0">
                                    <a:latin typeface="Cambria Math" panose="02040503050406030204" pitchFamily="18" charset="0"/>
                                  </a:rPr>
                                  <m:t>𝑖</m:t>
                                </m:r>
                              </m:sub>
                            </m:sSub>
                            <m:r>
                              <a:rPr lang="vi-VN" i="0" dirty="0" smtClean="0">
                                <a:latin typeface="Cambria Math" panose="02040503050406030204" pitchFamily="18" charset="0"/>
                              </a:rPr>
                              <m:t>|</m:t>
                            </m:r>
                            <m:r>
                              <a:rPr lang="vi-VN" i="1" dirty="0" smtClean="0">
                                <a:latin typeface="Cambria Math" panose="02040503050406030204" pitchFamily="18" charset="0"/>
                              </a:rPr>
                              <m:t>𝑠</m:t>
                            </m:r>
                          </m:e>
                        </m:d>
                      </m:e>
                    </m:d>
                  </m:oMath>
                </a14:m>
                <a:r>
                  <a:rPr lang="vi-VN" dirty="0"/>
                  <a:t>.</a:t>
                </a:r>
              </a:p>
            </p:txBody>
          </p:sp>
        </mc:Choice>
        <mc:Fallback>
          <p:sp>
            <p:nvSpPr>
              <p:cNvPr id="7" name="TextBox 6">
                <a:extLst>
                  <a:ext uri="{FF2B5EF4-FFF2-40B4-BE49-F238E27FC236}">
                    <a16:creationId xmlns:a16="http://schemas.microsoft.com/office/drawing/2014/main" id="{740735B5-E925-023D-CDA8-7B75127B51AC}"/>
                  </a:ext>
                </a:extLst>
              </p:cNvPr>
              <p:cNvSpPr txBox="1">
                <a:spLocks noRot="1" noChangeAspect="1" noMove="1" noResize="1" noEditPoints="1" noAdjustHandles="1" noChangeArrowheads="1" noChangeShapeType="1" noTextEdit="1"/>
              </p:cNvSpPr>
              <p:nvPr/>
            </p:nvSpPr>
            <p:spPr>
              <a:xfrm>
                <a:off x="264963" y="1108229"/>
                <a:ext cx="10345528" cy="4658391"/>
              </a:xfrm>
              <a:prstGeom prst="rect">
                <a:avLst/>
              </a:prstGeom>
              <a:blipFill>
                <a:blip r:embed="rId2"/>
                <a:stretch>
                  <a:fillRect l="-471" t="-785"/>
                </a:stretch>
              </a:blipFill>
            </p:spPr>
            <p:txBody>
              <a:bodyPr/>
              <a:lstStyle/>
              <a:p>
                <a:r>
                  <a:rPr lang="vi-VN">
                    <a:noFill/>
                  </a:rPr>
                  <a:t> </a:t>
                </a:r>
              </a:p>
            </p:txBody>
          </p:sp>
        </mc:Fallback>
      </mc:AlternateContent>
    </p:spTree>
    <p:extLst>
      <p:ext uri="{BB962C8B-B14F-4D97-AF65-F5344CB8AC3E}">
        <p14:creationId xmlns:p14="http://schemas.microsoft.com/office/powerpoint/2010/main" val="92990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9FC94-30D2-D3D5-36FC-5B94468BF621}"/>
            </a:ext>
          </a:extLst>
        </p:cNvPr>
        <p:cNvGrpSpPr/>
        <p:nvPr/>
      </p:nvGrpSpPr>
      <p:grpSpPr>
        <a:xfrm>
          <a:off x="0" y="0"/>
          <a:ext cx="0" cy="0"/>
          <a:chOff x="0" y="0"/>
          <a:chExt cx="0" cy="0"/>
        </a:xfrm>
      </p:grpSpPr>
      <p:sp>
        <p:nvSpPr>
          <p:cNvPr id="312" name="TextShape 1">
            <a:extLst>
              <a:ext uri="{FF2B5EF4-FFF2-40B4-BE49-F238E27FC236}">
                <a16:creationId xmlns:a16="http://schemas.microsoft.com/office/drawing/2014/main" id="{F6FADC4E-C97B-8851-F1FE-B8E1289BAE11}"/>
              </a:ext>
            </a:extLst>
          </p:cNvPr>
          <p:cNvSpPr txBox="1"/>
          <p:nvPr/>
        </p:nvSpPr>
        <p:spPr>
          <a:xfrm>
            <a:off x="338760" y="1058760"/>
            <a:ext cx="11514240" cy="4908600"/>
          </a:xfrm>
          <a:prstGeom prst="rect">
            <a:avLst/>
          </a:prstGeom>
          <a:noFill/>
          <a:ln>
            <a:noFill/>
          </a:ln>
        </p:spPr>
        <p:txBody>
          <a:bodyPr lIns="90000" tIns="45000" rIns="90000" bIns="45000">
            <a:noAutofit/>
          </a:bodyPr>
          <a:lstStyle/>
          <a:p>
            <a:endParaRPr lang="en-US" sz="2800" b="0" strike="noStrike" spc="-1">
              <a:solidFill>
                <a:srgbClr val="000000"/>
              </a:solidFill>
              <a:latin typeface="Calibri"/>
            </a:endParaRPr>
          </a:p>
        </p:txBody>
      </p:sp>
      <p:sp>
        <p:nvSpPr>
          <p:cNvPr id="313" name="TextShape 2">
            <a:extLst>
              <a:ext uri="{FF2B5EF4-FFF2-40B4-BE49-F238E27FC236}">
                <a16:creationId xmlns:a16="http://schemas.microsoft.com/office/drawing/2014/main" id="{3C0D9D64-A9D9-9399-E719-01312A3E821E}"/>
              </a:ext>
            </a:extLst>
          </p:cNvPr>
          <p:cNvSpPr txBox="1"/>
          <p:nvPr/>
        </p:nvSpPr>
        <p:spPr>
          <a:xfrm>
            <a:off x="338760" y="112680"/>
            <a:ext cx="1151424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
        <p:nvSpPr>
          <p:cNvPr id="3" name="TextBox 2">
            <a:extLst>
              <a:ext uri="{FF2B5EF4-FFF2-40B4-BE49-F238E27FC236}">
                <a16:creationId xmlns:a16="http://schemas.microsoft.com/office/drawing/2014/main" id="{B3C23BC5-FDCF-019E-E469-55FB6A5AF1ED}"/>
              </a:ext>
            </a:extLst>
          </p:cNvPr>
          <p:cNvSpPr txBox="1"/>
          <p:nvPr/>
        </p:nvSpPr>
        <p:spPr>
          <a:xfrm>
            <a:off x="83808" y="95891"/>
            <a:ext cx="12024143" cy="461665"/>
          </a:xfrm>
          <a:prstGeom prst="rect">
            <a:avLst/>
          </a:prstGeom>
          <a:noFill/>
        </p:spPr>
        <p:txBody>
          <a:bodyPr wrap="square" rtlCol="0">
            <a:spAutoFit/>
          </a:bodyPr>
          <a:lstStyle/>
          <a:p>
            <a:r>
              <a:rPr lang="vi-VN" sz="2400" b="1" dirty="0">
                <a:solidFill>
                  <a:schemeClr val="bg1"/>
                </a:solidFill>
              </a:rPr>
              <a:t>Kết Quả: Học Tăng Cường Tiệm Cận Mức Tối Ưu Tuyệt Đối</a:t>
            </a:r>
          </a:p>
        </p:txBody>
      </p:sp>
      <p:sp>
        <p:nvSpPr>
          <p:cNvPr id="7" name="TextBox 6">
            <a:extLst>
              <a:ext uri="{FF2B5EF4-FFF2-40B4-BE49-F238E27FC236}">
                <a16:creationId xmlns:a16="http://schemas.microsoft.com/office/drawing/2014/main" id="{948EE161-3A9A-E736-F4E4-F369F631C690}"/>
              </a:ext>
            </a:extLst>
          </p:cNvPr>
          <p:cNvSpPr txBox="1"/>
          <p:nvPr/>
        </p:nvSpPr>
        <p:spPr>
          <a:xfrm>
            <a:off x="204578" y="970206"/>
            <a:ext cx="10345528" cy="2308324"/>
          </a:xfrm>
          <a:prstGeom prst="rect">
            <a:avLst/>
          </a:prstGeom>
          <a:noFill/>
        </p:spPr>
        <p:txBody>
          <a:bodyPr wrap="square" rtlCol="0">
            <a:spAutoFit/>
          </a:bodyPr>
          <a:lstStyle/>
          <a:p>
            <a:r>
              <a:rPr lang="vi-VN" b="1" dirty="0"/>
              <a:t>Phá vỡ giới hạn:</a:t>
            </a:r>
            <a:r>
              <a:rPr lang="vi-VN" dirty="0"/>
              <a:t> RL vượt trội hoàn toàn so với mô hình Supervised Learning (được học từ 1 triệu nhãn), chứng minh ML không nhất thiết cần nhãn cho tối ưu hóa.</a:t>
            </a:r>
          </a:p>
          <a:p>
            <a:pPr lvl="0"/>
            <a:r>
              <a:rPr lang="vi-VN" dirty="0"/>
              <a:t>Với </a:t>
            </a:r>
            <a:r>
              <a:rPr lang="vi-VN" b="1" dirty="0"/>
              <a:t>TSP50</a:t>
            </a:r>
            <a:r>
              <a:rPr lang="vi-VN" dirty="0"/>
              <a:t>, Chiều dài quãng đường trung bình (càng thấp càng tốt):</a:t>
            </a:r>
          </a:p>
          <a:p>
            <a:pPr lvl="1"/>
            <a:r>
              <a:rPr lang="vi-VN" dirty="0"/>
              <a:t>Christofides: 5.87</a:t>
            </a:r>
          </a:p>
          <a:p>
            <a:pPr lvl="1"/>
            <a:r>
              <a:rPr lang="vi-VN" dirty="0"/>
              <a:t>RL-Active Search: 5.68</a:t>
            </a:r>
          </a:p>
          <a:p>
            <a:pPr lvl="1"/>
            <a:r>
              <a:rPr lang="vi-VN" dirty="0"/>
              <a:t>Optimal: 5.68</a:t>
            </a:r>
          </a:p>
          <a:p>
            <a:pPr lvl="0"/>
            <a:r>
              <a:rPr lang="vi-VN" dirty="0"/>
              <a:t>Sánh ngang với mức Optimal tuyệt đối, đánh bại cả Heuristics, OR-Tools Local Search và Supervised ML.</a:t>
            </a:r>
          </a:p>
        </p:txBody>
      </p:sp>
      <p:pic>
        <p:nvPicPr>
          <p:cNvPr id="4" name="Picture 3">
            <a:extLst>
              <a:ext uri="{FF2B5EF4-FFF2-40B4-BE49-F238E27FC236}">
                <a16:creationId xmlns:a16="http://schemas.microsoft.com/office/drawing/2014/main" id="{B7B4595B-3FBA-535F-6C27-27926CE40A91}"/>
              </a:ext>
            </a:extLst>
          </p:cNvPr>
          <p:cNvPicPr>
            <a:picLocks noChangeAspect="1"/>
          </p:cNvPicPr>
          <p:nvPr/>
        </p:nvPicPr>
        <p:blipFill>
          <a:blip r:embed="rId2"/>
          <a:stretch>
            <a:fillRect/>
          </a:stretch>
        </p:blipFill>
        <p:spPr>
          <a:xfrm>
            <a:off x="246712" y="3367084"/>
            <a:ext cx="11698333" cy="1524213"/>
          </a:xfrm>
          <a:prstGeom prst="rect">
            <a:avLst/>
          </a:prstGeom>
        </p:spPr>
      </p:pic>
      <p:pic>
        <p:nvPicPr>
          <p:cNvPr id="6" name="Picture 5">
            <a:extLst>
              <a:ext uri="{FF2B5EF4-FFF2-40B4-BE49-F238E27FC236}">
                <a16:creationId xmlns:a16="http://schemas.microsoft.com/office/drawing/2014/main" id="{CEDCB234-CFCC-B1F9-D5B7-31D5B042A5C0}"/>
              </a:ext>
            </a:extLst>
          </p:cNvPr>
          <p:cNvPicPr>
            <a:picLocks noChangeAspect="1"/>
          </p:cNvPicPr>
          <p:nvPr/>
        </p:nvPicPr>
        <p:blipFill>
          <a:blip r:embed="rId3"/>
          <a:stretch>
            <a:fillRect/>
          </a:stretch>
        </p:blipFill>
        <p:spPr>
          <a:xfrm>
            <a:off x="2081296" y="4958116"/>
            <a:ext cx="7478169" cy="1257475"/>
          </a:xfrm>
          <a:prstGeom prst="rect">
            <a:avLst/>
          </a:prstGeom>
        </p:spPr>
      </p:pic>
    </p:spTree>
    <p:extLst>
      <p:ext uri="{BB962C8B-B14F-4D97-AF65-F5344CB8AC3E}">
        <p14:creationId xmlns:p14="http://schemas.microsoft.com/office/powerpoint/2010/main" val="3370036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CustomShape 1"/>
          <p:cNvSpPr/>
          <p:nvPr/>
        </p:nvSpPr>
        <p:spPr>
          <a:xfrm>
            <a:off x="5756400" y="2824200"/>
            <a:ext cx="5136480" cy="970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90000"/>
              </a:lnSpc>
            </a:pPr>
            <a:r>
              <a:rPr lang="en-US" sz="6000" b="1" strike="noStrike" spc="-1">
                <a:solidFill>
                  <a:srgbClr val="C00000"/>
                </a:solidFill>
                <a:latin typeface="Lato"/>
                <a:ea typeface="Lato"/>
              </a:rPr>
              <a:t>THANK YOU !</a:t>
            </a:r>
            <a:endParaRPr lang="en-US" sz="6000" b="0" strike="noStrike" spc="-1">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131</TotalTime>
  <Words>1486</Words>
  <Application>Microsoft Office PowerPoint</Application>
  <PresentationFormat>Widescreen</PresentationFormat>
  <Paragraphs>83</Paragraphs>
  <Slides>11</Slides>
  <Notes>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11</vt:i4>
      </vt:variant>
    </vt:vector>
  </HeadingPairs>
  <TitlesOfParts>
    <vt:vector size="21" baseType="lpstr">
      <vt:lpstr>Arial</vt:lpstr>
      <vt:lpstr>Calibri</vt:lpstr>
      <vt:lpstr>Cambria Math</vt:lpstr>
      <vt:lpstr>Lato</vt:lpstr>
      <vt:lpstr>Symbol</vt:lpstr>
      <vt:lpstr>Wingdings</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Phong TT &amp; QTTH</dc:creator>
  <dc:description/>
  <cp:lastModifiedBy>Ngo Minh Tuan</cp:lastModifiedBy>
  <cp:revision>3</cp:revision>
  <dcterms:created xsi:type="dcterms:W3CDTF">2020-12-31T09:57:48Z</dcterms:created>
  <dcterms:modified xsi:type="dcterms:W3CDTF">2026-10-08T16:33:05Z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ntentTypeId">
    <vt:lpwstr>0x0101004F531634775FD1439D5B67291EFE2AD4</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Notes">
    <vt:i4>0</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9</vt:i4>
  </property>
</Properties>
</file>